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mov" ContentType="video/quicktime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3"/>
  </p:notesMasterIdLst>
  <p:sldIdLst>
    <p:sldId id="256" r:id="rId2"/>
  </p:sldIdLst>
  <p:sldSz cx="43891200" cy="3291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kiosk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4875"/>
    <p:restoredTop sz="94702"/>
  </p:normalViewPr>
  <p:slideViewPr>
    <p:cSldViewPr snapToGrid="0">
      <p:cViewPr>
        <p:scale>
          <a:sx n="45" d="100"/>
          <a:sy n="45" d="100"/>
        </p:scale>
        <p:origin x="744" y="-2496"/>
      </p:cViewPr>
      <p:guideLst/>
    </p:cSldViewPr>
  </p:slideViewPr>
  <p:notesTextViewPr>
    <p:cViewPr>
      <p:scale>
        <a:sx n="95" d="100"/>
        <a:sy n="9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AB172B-BD44-1743-A2EC-E7B46D3865A5}" type="datetimeFigureOut">
              <a:rPr kumimoji="1" lang="zh-CN" altLang="en-US" smtClean="0"/>
              <a:t>2026/5/26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21A5C7-2010-334C-A56F-974FD618B92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131281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440691" rtl="0" eaLnBrk="1" latinLnBrk="0" hangingPunct="1">
      <a:defRPr sz="4516" kern="1200">
        <a:solidFill>
          <a:schemeClr val="tx1"/>
        </a:solidFill>
        <a:latin typeface="+mn-lt"/>
        <a:ea typeface="+mn-ea"/>
        <a:cs typeface="+mn-cs"/>
      </a:defRPr>
    </a:lvl1pPr>
    <a:lvl2pPr marL="1720346" algn="l" defTabSz="3440691" rtl="0" eaLnBrk="1" latinLnBrk="0" hangingPunct="1">
      <a:defRPr sz="4516" kern="1200">
        <a:solidFill>
          <a:schemeClr val="tx1"/>
        </a:solidFill>
        <a:latin typeface="+mn-lt"/>
        <a:ea typeface="+mn-ea"/>
        <a:cs typeface="+mn-cs"/>
      </a:defRPr>
    </a:lvl2pPr>
    <a:lvl3pPr marL="3440691" algn="l" defTabSz="3440691" rtl="0" eaLnBrk="1" latinLnBrk="0" hangingPunct="1">
      <a:defRPr sz="4516" kern="1200">
        <a:solidFill>
          <a:schemeClr val="tx1"/>
        </a:solidFill>
        <a:latin typeface="+mn-lt"/>
        <a:ea typeface="+mn-ea"/>
        <a:cs typeface="+mn-cs"/>
      </a:defRPr>
    </a:lvl3pPr>
    <a:lvl4pPr marL="5161037" algn="l" defTabSz="3440691" rtl="0" eaLnBrk="1" latinLnBrk="0" hangingPunct="1">
      <a:defRPr sz="4516" kern="1200">
        <a:solidFill>
          <a:schemeClr val="tx1"/>
        </a:solidFill>
        <a:latin typeface="+mn-lt"/>
        <a:ea typeface="+mn-ea"/>
        <a:cs typeface="+mn-cs"/>
      </a:defRPr>
    </a:lvl4pPr>
    <a:lvl5pPr marL="6881384" algn="l" defTabSz="3440691" rtl="0" eaLnBrk="1" latinLnBrk="0" hangingPunct="1">
      <a:defRPr sz="4516" kern="1200">
        <a:solidFill>
          <a:schemeClr val="tx1"/>
        </a:solidFill>
        <a:latin typeface="+mn-lt"/>
        <a:ea typeface="+mn-ea"/>
        <a:cs typeface="+mn-cs"/>
      </a:defRPr>
    </a:lvl5pPr>
    <a:lvl6pPr marL="8601729" algn="l" defTabSz="3440691" rtl="0" eaLnBrk="1" latinLnBrk="0" hangingPunct="1">
      <a:defRPr sz="4516" kern="1200">
        <a:solidFill>
          <a:schemeClr val="tx1"/>
        </a:solidFill>
        <a:latin typeface="+mn-lt"/>
        <a:ea typeface="+mn-ea"/>
        <a:cs typeface="+mn-cs"/>
      </a:defRPr>
    </a:lvl6pPr>
    <a:lvl7pPr marL="10322074" algn="l" defTabSz="3440691" rtl="0" eaLnBrk="1" latinLnBrk="0" hangingPunct="1">
      <a:defRPr sz="4516" kern="1200">
        <a:solidFill>
          <a:schemeClr val="tx1"/>
        </a:solidFill>
        <a:latin typeface="+mn-lt"/>
        <a:ea typeface="+mn-ea"/>
        <a:cs typeface="+mn-cs"/>
      </a:defRPr>
    </a:lvl7pPr>
    <a:lvl8pPr marL="12042420" algn="l" defTabSz="3440691" rtl="0" eaLnBrk="1" latinLnBrk="0" hangingPunct="1">
      <a:defRPr sz="4516" kern="1200">
        <a:solidFill>
          <a:schemeClr val="tx1"/>
        </a:solidFill>
        <a:latin typeface="+mn-lt"/>
        <a:ea typeface="+mn-ea"/>
        <a:cs typeface="+mn-cs"/>
      </a:defRPr>
    </a:lvl8pPr>
    <a:lvl9pPr marL="13762765" algn="l" defTabSz="3440691" rtl="0" eaLnBrk="1" latinLnBrk="0" hangingPunct="1">
      <a:defRPr sz="451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21A5C7-2010-334C-A56F-974FD618B92B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78238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1840" y="5387342"/>
            <a:ext cx="37307520" cy="11460480"/>
          </a:xfrm>
        </p:spPr>
        <p:txBody>
          <a:bodyPr anchor="b"/>
          <a:lstStyle>
            <a:lvl1pPr algn="ctr">
              <a:defRPr sz="28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0" y="17289782"/>
            <a:ext cx="32918400" cy="7947658"/>
          </a:xfrm>
        </p:spPr>
        <p:txBody>
          <a:bodyPr/>
          <a:lstStyle>
            <a:lvl1pPr marL="0" indent="0" algn="ctr">
              <a:buNone/>
              <a:defRPr sz="11520"/>
            </a:lvl1pPr>
            <a:lvl2pPr marL="2194560" indent="0" algn="ctr">
              <a:buNone/>
              <a:defRPr sz="9600"/>
            </a:lvl2pPr>
            <a:lvl3pPr marL="4389120" indent="0" algn="ctr">
              <a:buNone/>
              <a:defRPr sz="8640"/>
            </a:lvl3pPr>
            <a:lvl4pPr marL="6583680" indent="0" algn="ctr">
              <a:buNone/>
              <a:defRPr sz="7680"/>
            </a:lvl4pPr>
            <a:lvl5pPr marL="8778240" indent="0" algn="ctr">
              <a:buNone/>
              <a:defRPr sz="7680"/>
            </a:lvl5pPr>
            <a:lvl6pPr marL="10972800" indent="0" algn="ctr">
              <a:buNone/>
              <a:defRPr sz="7680"/>
            </a:lvl6pPr>
            <a:lvl7pPr marL="13167360" indent="0" algn="ctr">
              <a:buNone/>
              <a:defRPr sz="7680"/>
            </a:lvl7pPr>
            <a:lvl8pPr marL="15361920" indent="0" algn="ctr">
              <a:buNone/>
              <a:defRPr sz="7680"/>
            </a:lvl8pPr>
            <a:lvl9pPr marL="17556480" indent="0" algn="ctr">
              <a:buNone/>
              <a:defRPr sz="768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66F52-D96F-7D46-9D78-82F36ACFCD15}" type="datetimeFigureOut">
              <a:rPr kumimoji="1" lang="zh-CN" altLang="en-US" smtClean="0"/>
              <a:t>2026/5/26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6B180-B21F-5E4D-B49E-B286ADFFB25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47930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66F52-D96F-7D46-9D78-82F36ACFCD15}" type="datetimeFigureOut">
              <a:rPr kumimoji="1" lang="zh-CN" altLang="en-US" smtClean="0"/>
              <a:t>2026/5/26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6B180-B21F-5E4D-B49E-B286ADFFB25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19721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4662" y="8206749"/>
            <a:ext cx="37856160" cy="13693138"/>
          </a:xfrm>
        </p:spPr>
        <p:txBody>
          <a:bodyPr anchor="b"/>
          <a:lstStyle>
            <a:lvl1pPr>
              <a:defRPr sz="28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94662" y="22029429"/>
            <a:ext cx="37856160" cy="7200898"/>
          </a:xfrm>
        </p:spPr>
        <p:txBody>
          <a:bodyPr/>
          <a:lstStyle>
            <a:lvl1pPr marL="0" indent="0">
              <a:buNone/>
              <a:defRPr sz="11520">
                <a:solidFill>
                  <a:schemeClr val="tx1">
                    <a:tint val="82000"/>
                  </a:schemeClr>
                </a:solidFill>
              </a:defRPr>
            </a:lvl1pPr>
            <a:lvl2pPr marL="2194560" indent="0">
              <a:buNone/>
              <a:defRPr sz="9600">
                <a:solidFill>
                  <a:schemeClr val="tx1">
                    <a:tint val="82000"/>
                  </a:schemeClr>
                </a:solidFill>
              </a:defRPr>
            </a:lvl2pPr>
            <a:lvl3pPr marL="4389120" indent="0">
              <a:buNone/>
              <a:defRPr sz="8640">
                <a:solidFill>
                  <a:schemeClr val="tx1">
                    <a:tint val="82000"/>
                  </a:schemeClr>
                </a:solidFill>
              </a:defRPr>
            </a:lvl3pPr>
            <a:lvl4pPr marL="658368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4pPr>
            <a:lvl5pPr marL="877824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5pPr>
            <a:lvl6pPr marL="1097280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6pPr>
            <a:lvl7pPr marL="1316736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7pPr>
            <a:lvl8pPr marL="1536192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8pPr>
            <a:lvl9pPr marL="1755648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66F52-D96F-7D46-9D78-82F36ACFCD15}" type="datetimeFigureOut">
              <a:rPr kumimoji="1" lang="zh-CN" altLang="en-US" smtClean="0"/>
              <a:t>2026/5/26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6B180-B21F-5E4D-B49E-B286ADFFB25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563643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17520" y="8763000"/>
            <a:ext cx="18653760" cy="2088642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219920" y="8763000"/>
            <a:ext cx="18653760" cy="2088642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66F52-D96F-7D46-9D78-82F36ACFCD15}" type="datetimeFigureOut">
              <a:rPr kumimoji="1" lang="zh-CN" altLang="en-US" smtClean="0"/>
              <a:t>2026/5/26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6B180-B21F-5E4D-B49E-B286ADFFB25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99886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1752607"/>
            <a:ext cx="37856160" cy="636270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23242" y="8069582"/>
            <a:ext cx="18568032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23242" y="12024360"/>
            <a:ext cx="18568032" cy="1768602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19922" y="8069582"/>
            <a:ext cx="18659477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19922" y="12024360"/>
            <a:ext cx="18659477" cy="1768602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66F52-D96F-7D46-9D78-82F36ACFCD15}" type="datetimeFigureOut">
              <a:rPr kumimoji="1" lang="zh-CN" altLang="en-US" smtClean="0"/>
              <a:t>2026/5/26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6B180-B21F-5E4D-B49E-B286ADFFB25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10605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66F52-D96F-7D46-9D78-82F36ACFCD15}" type="datetimeFigureOut">
              <a:rPr kumimoji="1" lang="zh-CN" altLang="en-US" smtClean="0"/>
              <a:t>2026/5/26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6B180-B21F-5E4D-B49E-B286ADFFB25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46485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66F52-D96F-7D46-9D78-82F36ACFCD15}" type="datetimeFigureOut">
              <a:rPr kumimoji="1" lang="zh-CN" altLang="en-US" smtClean="0"/>
              <a:t>2026/5/26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6B180-B21F-5E4D-B49E-B286ADFFB25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98134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59477" y="4739647"/>
            <a:ext cx="22219920" cy="23393400"/>
          </a:xfrm>
        </p:spPr>
        <p:txBody>
          <a:bodyPr/>
          <a:lstStyle>
            <a:lvl1pPr>
              <a:defRPr sz="15360"/>
            </a:lvl1pPr>
            <a:lvl2pPr>
              <a:defRPr sz="13440"/>
            </a:lvl2pPr>
            <a:lvl3pPr>
              <a:defRPr sz="11520"/>
            </a:lvl3pPr>
            <a:lvl4pPr>
              <a:defRPr sz="9600"/>
            </a:lvl4pPr>
            <a:lvl5pPr>
              <a:defRPr sz="9600"/>
            </a:lvl5pPr>
            <a:lvl6pPr>
              <a:defRPr sz="9600"/>
            </a:lvl6pPr>
            <a:lvl7pPr>
              <a:defRPr sz="9600"/>
            </a:lvl7pPr>
            <a:lvl8pPr>
              <a:defRPr sz="9600"/>
            </a:lvl8pPr>
            <a:lvl9pPr>
              <a:defRPr sz="9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7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66F52-D96F-7D46-9D78-82F36ACFCD15}" type="datetimeFigureOut">
              <a:rPr kumimoji="1" lang="zh-CN" altLang="en-US" smtClean="0"/>
              <a:t>2026/5/26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6B180-B21F-5E4D-B49E-B286ADFFB25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43679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659477" y="4739647"/>
            <a:ext cx="22219920" cy="23393400"/>
          </a:xfrm>
        </p:spPr>
        <p:txBody>
          <a:bodyPr anchor="t"/>
          <a:lstStyle>
            <a:lvl1pPr marL="0" indent="0">
              <a:buNone/>
              <a:defRPr sz="15360"/>
            </a:lvl1pPr>
            <a:lvl2pPr marL="2194560" indent="0">
              <a:buNone/>
              <a:defRPr sz="13440"/>
            </a:lvl2pPr>
            <a:lvl3pPr marL="4389120" indent="0">
              <a:buNone/>
              <a:defRPr sz="11520"/>
            </a:lvl3pPr>
            <a:lvl4pPr marL="6583680" indent="0">
              <a:buNone/>
              <a:defRPr sz="9600"/>
            </a:lvl4pPr>
            <a:lvl5pPr marL="8778240" indent="0">
              <a:buNone/>
              <a:defRPr sz="9600"/>
            </a:lvl5pPr>
            <a:lvl6pPr marL="10972800" indent="0">
              <a:buNone/>
              <a:defRPr sz="9600"/>
            </a:lvl6pPr>
            <a:lvl7pPr marL="13167360" indent="0">
              <a:buNone/>
              <a:defRPr sz="9600"/>
            </a:lvl7pPr>
            <a:lvl8pPr marL="15361920" indent="0">
              <a:buNone/>
              <a:defRPr sz="9600"/>
            </a:lvl8pPr>
            <a:lvl9pPr marL="17556480" indent="0">
              <a:buNone/>
              <a:defRPr sz="9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7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66F52-D96F-7D46-9D78-82F36ACFCD15}" type="datetimeFigureOut">
              <a:rPr kumimoji="1" lang="zh-CN" altLang="en-US" smtClean="0"/>
              <a:t>2026/5/26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6B180-B21F-5E4D-B49E-B286ADFFB25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284244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66F52-D96F-7D46-9D78-82F36ACFCD15}" type="datetimeFigureOut">
              <a:rPr kumimoji="1" lang="zh-CN" altLang="en-US" smtClean="0"/>
              <a:t>2026/5/26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6B180-B21F-5E4D-B49E-B286ADFFB25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684841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409642" y="1752600"/>
            <a:ext cx="9464040" cy="2789682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17522" y="1752600"/>
            <a:ext cx="27843480" cy="2789682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66F52-D96F-7D46-9D78-82F36ACFCD15}" type="datetimeFigureOut">
              <a:rPr kumimoji="1" lang="zh-CN" altLang="en-US" smtClean="0"/>
              <a:t>2026/5/26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6B180-B21F-5E4D-B49E-B286ADFFB25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46823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17520" y="1752607"/>
            <a:ext cx="37856160" cy="6362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0" y="8763000"/>
            <a:ext cx="37856160" cy="20886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7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A66F52-D96F-7D46-9D78-82F36ACFCD15}" type="datetimeFigureOut">
              <a:rPr kumimoji="1" lang="zh-CN" altLang="en-US" smtClean="0"/>
              <a:t>2026/5/26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7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7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F6B180-B21F-5E4D-B49E-B286ADFFB25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46925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4389120" rtl="0" eaLnBrk="1" latinLnBrk="0" hangingPunct="1">
        <a:lnSpc>
          <a:spcPct val="90000"/>
        </a:lnSpc>
        <a:spcBef>
          <a:spcPct val="0"/>
        </a:spcBef>
        <a:buNone/>
        <a:defRPr sz="211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97280" indent="-1097280" algn="l" defTabSz="4389120" rtl="0" eaLnBrk="1" latinLnBrk="0" hangingPunct="1">
        <a:lnSpc>
          <a:spcPct val="90000"/>
        </a:lnSpc>
        <a:spcBef>
          <a:spcPts val="4800"/>
        </a:spcBef>
        <a:buFont typeface="Arial" panose="020B0604020202020204" pitchFamily="34" charset="0"/>
        <a:buChar char="•"/>
        <a:defRPr sz="13440" kern="1200">
          <a:solidFill>
            <a:schemeClr val="tx1"/>
          </a:solidFill>
          <a:latin typeface="+mn-lt"/>
          <a:ea typeface="+mn-ea"/>
          <a:cs typeface="+mn-cs"/>
        </a:defRPr>
      </a:lvl1pPr>
      <a:lvl2pPr marL="32918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1152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3pPr>
      <a:lvl4pPr marL="76809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987552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42646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64592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86537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3891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3pPr>
      <a:lvl4pPr marL="65836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877824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3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9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4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.png"/><Relationship Id="rId18" Type="http://schemas.openxmlformats.org/officeDocument/2006/relationships/image" Target="../media/image90.png"/><Relationship Id="rId26" Type="http://schemas.openxmlformats.org/officeDocument/2006/relationships/image" Target="../media/image17.png"/><Relationship Id="rId3" Type="http://schemas.openxmlformats.org/officeDocument/2006/relationships/video" Target="../media/media1.mov"/><Relationship Id="rId21" Type="http://schemas.openxmlformats.org/officeDocument/2006/relationships/image" Target="../media/image12.png"/><Relationship Id="rId34" Type="http://schemas.openxmlformats.org/officeDocument/2006/relationships/image" Target="../media/image26.png"/><Relationship Id="rId7" Type="http://schemas.openxmlformats.org/officeDocument/2006/relationships/notesSlide" Target="../notesSlides/notesSlide1.xml"/><Relationship Id="rId12" Type="http://schemas.openxmlformats.org/officeDocument/2006/relationships/image" Target="../media/image5.gif"/><Relationship Id="rId17" Type="http://schemas.openxmlformats.org/officeDocument/2006/relationships/image" Target="../media/image9.png"/><Relationship Id="rId25" Type="http://schemas.openxmlformats.org/officeDocument/2006/relationships/image" Target="../media/image16.png"/><Relationship Id="rId2" Type="http://schemas.microsoft.com/office/2007/relationships/media" Target="../media/media1.mov"/><Relationship Id="rId16" Type="http://schemas.openxmlformats.org/officeDocument/2006/relationships/image" Target="../media/image8.emf"/><Relationship Id="rId20" Type="http://schemas.openxmlformats.org/officeDocument/2006/relationships/image" Target="../media/image11.png"/><Relationship Id="rId29" Type="http://schemas.openxmlformats.org/officeDocument/2006/relationships/image" Target="../media/image20.png"/><Relationship Id="rId1" Type="http://schemas.openxmlformats.org/officeDocument/2006/relationships/tags" Target="../tags/tag1.xml"/><Relationship Id="rId6" Type="http://schemas.openxmlformats.org/officeDocument/2006/relationships/slideLayout" Target="../slideLayouts/slideLayout1.xml"/><Relationship Id="rId11" Type="http://schemas.openxmlformats.org/officeDocument/2006/relationships/image" Target="../media/image4.png"/><Relationship Id="rId24" Type="http://schemas.openxmlformats.org/officeDocument/2006/relationships/image" Target="../media/image15.png"/><Relationship Id="rId5" Type="http://schemas.microsoft.com/office/2007/relationships/media" Target="../media/media2.mp4"/><Relationship Id="rId15" Type="http://schemas.openxmlformats.org/officeDocument/2006/relationships/image" Target="../media/image7.png"/><Relationship Id="rId23" Type="http://schemas.openxmlformats.org/officeDocument/2006/relationships/image" Target="../media/image14.png"/><Relationship Id="rId28" Type="http://schemas.openxmlformats.org/officeDocument/2006/relationships/image" Target="../media/image19.png"/><Relationship Id="rId10" Type="http://schemas.openxmlformats.org/officeDocument/2006/relationships/image" Target="../media/image3.gif"/><Relationship Id="rId19" Type="http://schemas.openxmlformats.org/officeDocument/2006/relationships/image" Target="../media/image10.png"/><Relationship Id="rId31" Type="http://schemas.openxmlformats.org/officeDocument/2006/relationships/image" Target="../media/image22.png"/><Relationship Id="rId4" Type="http://schemas.openxmlformats.org/officeDocument/2006/relationships/video" Target="NULL" TargetMode="External"/><Relationship Id="rId9" Type="http://schemas.openxmlformats.org/officeDocument/2006/relationships/image" Target="../media/image2.gif"/><Relationship Id="rId14" Type="http://schemas.openxmlformats.org/officeDocument/2006/relationships/image" Target="../media/image6.png"/><Relationship Id="rId22" Type="http://schemas.openxmlformats.org/officeDocument/2006/relationships/image" Target="../media/image13.png"/><Relationship Id="rId27" Type="http://schemas.openxmlformats.org/officeDocument/2006/relationships/image" Target="../media/image18.png"/><Relationship Id="rId30" Type="http://schemas.openxmlformats.org/officeDocument/2006/relationships/image" Target="../media/image21.png"/><Relationship Id="rId35" Type="http://schemas.openxmlformats.org/officeDocument/2006/relationships/image" Target="../media/image23.png"/><Relationship Id="rId8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圆角矩形 49">
            <a:extLst>
              <a:ext uri="{FF2B5EF4-FFF2-40B4-BE49-F238E27FC236}">
                <a16:creationId xmlns:a16="http://schemas.microsoft.com/office/drawing/2014/main" id="{140FFDE6-43E6-3BE7-605F-E0505657FE50}"/>
              </a:ext>
            </a:extLst>
          </p:cNvPr>
          <p:cNvSpPr/>
          <p:nvPr/>
        </p:nvSpPr>
        <p:spPr>
          <a:xfrm>
            <a:off x="17598385" y="25377973"/>
            <a:ext cx="19652266" cy="654174"/>
          </a:xfrm>
          <a:prstGeom prst="roundRect">
            <a:avLst>
              <a:gd name="adj" fmla="val 2319"/>
            </a:avLst>
          </a:prstGeom>
          <a:solidFill>
            <a:schemeClr val="bg1"/>
          </a:solidFill>
          <a:ln w="12700">
            <a:noFill/>
          </a:ln>
          <a:effectLst>
            <a:outerShdw blurRad="204860" dir="5400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20760AB-0208-D634-F9A6-1770F2F7CD77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6901"/>
          <a:stretch>
            <a:fillRect/>
          </a:stretch>
        </p:blipFill>
        <p:spPr>
          <a:xfrm>
            <a:off x="28305101" y="16534478"/>
            <a:ext cx="8486585" cy="6207846"/>
          </a:xfrm>
          <a:prstGeom prst="rect">
            <a:avLst/>
          </a:prstGeom>
        </p:spPr>
      </p:pic>
      <p:pic>
        <p:nvPicPr>
          <p:cNvPr id="45" name="图片 44">
            <a:extLst>
              <a:ext uri="{FF2B5EF4-FFF2-40B4-BE49-F238E27FC236}">
                <a16:creationId xmlns:a16="http://schemas.microsoft.com/office/drawing/2014/main" id="{6A45F629-5F96-B3C4-9948-ABF079FDFA1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121320" y="26954551"/>
            <a:ext cx="4572000" cy="2921000"/>
          </a:xfrm>
          <a:prstGeom prst="rect">
            <a:avLst/>
          </a:prstGeom>
        </p:spPr>
      </p:pic>
      <p:pic>
        <p:nvPicPr>
          <p:cNvPr id="49" name="图片 48">
            <a:extLst>
              <a:ext uri="{FF2B5EF4-FFF2-40B4-BE49-F238E27FC236}">
                <a16:creationId xmlns:a16="http://schemas.microsoft.com/office/drawing/2014/main" id="{0040F014-5EF3-29B1-C011-694167067B3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740355" y="23465888"/>
            <a:ext cx="4826000" cy="3048000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ACC714CE-D303-9826-B47C-79625D6B3643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1577" t="67986" r="55740"/>
          <a:stretch>
            <a:fillRect/>
          </a:stretch>
        </p:blipFill>
        <p:spPr>
          <a:xfrm>
            <a:off x="11084709" y="16048447"/>
            <a:ext cx="5447623" cy="2601083"/>
          </a:xfrm>
          <a:prstGeom prst="rect">
            <a:avLst/>
          </a:prstGeom>
        </p:spPr>
      </p:pic>
      <p:pic>
        <p:nvPicPr>
          <p:cNvPr id="47" name="图片 46">
            <a:extLst>
              <a:ext uri="{FF2B5EF4-FFF2-40B4-BE49-F238E27FC236}">
                <a16:creationId xmlns:a16="http://schemas.microsoft.com/office/drawing/2014/main" id="{FA82208E-CA0A-527F-BFBB-48894A1AD15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340923" y="30295914"/>
            <a:ext cx="6226629" cy="1816100"/>
          </a:xfrm>
          <a:prstGeom prst="rect">
            <a:avLst/>
          </a:prstGeom>
        </p:spPr>
      </p:pic>
      <p:sp>
        <p:nvSpPr>
          <p:cNvPr id="16" name="圆角矩形 15">
            <a:extLst>
              <a:ext uri="{FF2B5EF4-FFF2-40B4-BE49-F238E27FC236}">
                <a16:creationId xmlns:a16="http://schemas.microsoft.com/office/drawing/2014/main" id="{6ABFF162-C630-3C68-0CC1-5A97B8C073DD}"/>
              </a:ext>
            </a:extLst>
          </p:cNvPr>
          <p:cNvSpPr/>
          <p:nvPr/>
        </p:nvSpPr>
        <p:spPr>
          <a:xfrm>
            <a:off x="486436" y="6440536"/>
            <a:ext cx="7009415" cy="7073963"/>
          </a:xfrm>
          <a:prstGeom prst="roundRect">
            <a:avLst>
              <a:gd name="adj" fmla="val 2319"/>
            </a:avLst>
          </a:prstGeom>
          <a:solidFill>
            <a:schemeClr val="bg1"/>
          </a:solidFill>
          <a:ln w="12700">
            <a:noFill/>
          </a:ln>
          <a:effectLst>
            <a:outerShdw blurRad="204860" dir="5400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D6E80C62-6D96-5AC7-BA5D-29D2374D0B94}"/>
              </a:ext>
            </a:extLst>
          </p:cNvPr>
          <p:cNvSpPr/>
          <p:nvPr/>
        </p:nvSpPr>
        <p:spPr>
          <a:xfrm>
            <a:off x="536373" y="8076970"/>
            <a:ext cx="6747437" cy="2528710"/>
          </a:xfrm>
          <a:prstGeom prst="roundRect">
            <a:avLst>
              <a:gd name="adj" fmla="val 2319"/>
            </a:avLst>
          </a:prstGeom>
          <a:solidFill>
            <a:schemeClr val="bg1"/>
          </a:solidFill>
          <a:ln w="12700">
            <a:noFill/>
          </a:ln>
          <a:effectLst>
            <a:outerShdw blurRad="204860" dir="5400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3BE2EF5E-0385-C957-ED78-4D113F661048}"/>
                  </a:ext>
                </a:extLst>
              </p:cNvPr>
              <p:cNvSpPr/>
              <p:nvPr/>
            </p:nvSpPr>
            <p:spPr>
              <a:xfrm>
                <a:off x="382632" y="277427"/>
                <a:ext cx="26927278" cy="314983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9934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charset="0"/>
                      </a:rPr>
                      <m:t>𝝅</m:t>
                    </m:r>
                  </m:oMath>
                </a14:m>
                <a:r>
                  <a:rPr lang="en-US" altLang="zh-CN" sz="9934" b="1" dirty="0">
                    <a:solidFill>
                      <a:schemeClr val="tx1"/>
                    </a:solidFill>
                    <a:latin typeface="Calibri" panose="020F0502020204030204" charset="0"/>
                    <a:ea typeface="Microsoft YaHei" panose="020B0503020204020204" pitchFamily="34" charset="-122"/>
                    <a:cs typeface="Calibri" panose="020F0502020204030204" charset="0"/>
                  </a:rPr>
                  <a:t>MPC: A Parallel-in-horizon and Construction-free NMPC Solver</a:t>
                </a:r>
                <a:r>
                  <a:rPr lang="en-US" altLang="zh-CN" sz="9934" b="1" baseline="30000" dirty="0">
                    <a:solidFill>
                      <a:schemeClr val="tx1"/>
                    </a:solidFill>
                    <a:latin typeface="Calibri" panose="020F0502020204030204" charset="0"/>
                    <a:ea typeface="Microsoft YaHei" panose="020B0503020204020204" pitchFamily="34" charset="-122"/>
                    <a:cs typeface="Calibri" panose="020F0502020204030204" charset="0"/>
                  </a:rPr>
                  <a:t>[</a:t>
                </a:r>
                <a:r>
                  <a:rPr lang="en-US" altLang="zh-CN" sz="9934" b="1" baseline="30000" dirty="0">
                    <a:latin typeface="Calibri" panose="020F0502020204030204" charset="0"/>
                    <a:ea typeface="Microsoft YaHei" panose="020B0503020204020204" pitchFamily="34" charset="-122"/>
                    <a:cs typeface="Calibri" panose="020F0502020204030204" charset="0"/>
                  </a:rPr>
                  <a:t>1</a:t>
                </a:r>
                <a:r>
                  <a:rPr lang="en-US" altLang="zh-CN" sz="9934" b="1" baseline="30000" dirty="0">
                    <a:solidFill>
                      <a:schemeClr val="tx1"/>
                    </a:solidFill>
                    <a:latin typeface="Calibri" panose="020F0502020204030204" charset="0"/>
                    <a:ea typeface="Microsoft YaHei" panose="020B0503020204020204" pitchFamily="34" charset="-122"/>
                    <a:cs typeface="Calibri" panose="020F0502020204030204" charset="0"/>
                  </a:rPr>
                  <a:t>]</a:t>
                </a:r>
                <a:endParaRPr lang="zh-CN" altLang="en-US" sz="9934" baseline="30000" dirty="0">
                  <a:solidFill>
                    <a:schemeClr val="tx1"/>
                  </a:solidFill>
                  <a:latin typeface="Calibri" panose="020F0502020204030204" charset="0"/>
                  <a:ea typeface="Microsoft YaHei" panose="020B0503020204020204" pitchFamily="34" charset="-122"/>
                  <a:cs typeface="Calibri" panose="020F0502020204030204" charset="0"/>
                </a:endParaRPr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3BE2EF5E-0385-C957-ED78-4D113F6610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632" y="277427"/>
                <a:ext cx="26927278" cy="3149837"/>
              </a:xfrm>
              <a:prstGeom prst="rect">
                <a:avLst/>
              </a:prstGeom>
              <a:blipFill>
                <a:blip r:embed="rId13"/>
                <a:stretch>
                  <a:fillRect l="-2499" t="-10887" r="-1886" b="-217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组合 10">
            <a:extLst>
              <a:ext uri="{FF2B5EF4-FFF2-40B4-BE49-F238E27FC236}">
                <a16:creationId xmlns:a16="http://schemas.microsoft.com/office/drawing/2014/main" id="{08BD5FF2-904F-08AE-ACDC-37A1D6AE7787}"/>
              </a:ext>
            </a:extLst>
          </p:cNvPr>
          <p:cNvGrpSpPr/>
          <p:nvPr/>
        </p:nvGrpSpPr>
        <p:grpSpPr>
          <a:xfrm>
            <a:off x="353638" y="4746966"/>
            <a:ext cx="16179851" cy="1329048"/>
            <a:chOff x="1772526" y="3557749"/>
            <a:chExt cx="14332347" cy="1177290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A1128104-2B23-FF1F-6F9F-93FF24B9D3CE}"/>
                </a:ext>
              </a:extLst>
            </p:cNvPr>
            <p:cNvSpPr/>
            <p:nvPr/>
          </p:nvSpPr>
          <p:spPr>
            <a:xfrm>
              <a:off x="1772526" y="3557749"/>
              <a:ext cx="14332347" cy="1177290"/>
            </a:xfrm>
            <a:prstGeom prst="rect">
              <a:avLst/>
            </a:prstGeom>
            <a:solidFill>
              <a:srgbClr val="2E309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349" tIns="60672" rIns="121349" bIns="60672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1515" dirty="0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8796760-19EB-21E6-5CB7-F0EA39F5A8BE}"/>
                </a:ext>
              </a:extLst>
            </p:cNvPr>
            <p:cNvSpPr txBox="1"/>
            <p:nvPr/>
          </p:nvSpPr>
          <p:spPr>
            <a:xfrm>
              <a:off x="7304493" y="3610380"/>
              <a:ext cx="3973772" cy="10050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6773" dirty="0">
                  <a:solidFill>
                    <a:schemeClr val="bg1"/>
                  </a:solidFill>
                  <a:latin typeface="Calibri" panose="020F0502020204030204" charset="0"/>
                  <a:ea typeface="Microsoft YaHei" panose="020B0503020204020204" pitchFamily="34" charset="-122"/>
                  <a:cs typeface="Calibri" panose="020F0502020204030204" charset="0"/>
                </a:rPr>
                <a:t>Motivation</a:t>
              </a:r>
            </a:p>
          </p:txBody>
        </p:sp>
      </p:grpSp>
      <p:cxnSp>
        <p:nvCxnSpPr>
          <p:cNvPr id="17" name="直接连接符 19">
            <a:extLst>
              <a:ext uri="{FF2B5EF4-FFF2-40B4-BE49-F238E27FC236}">
                <a16:creationId xmlns:a16="http://schemas.microsoft.com/office/drawing/2014/main" id="{9C47E793-3D4D-FB9C-BFA7-62061D4125C2}"/>
              </a:ext>
            </a:extLst>
          </p:cNvPr>
          <p:cNvCxnSpPr>
            <a:cxnSpLocks/>
          </p:cNvCxnSpPr>
          <p:nvPr/>
        </p:nvCxnSpPr>
        <p:spPr>
          <a:xfrm>
            <a:off x="104086" y="4486924"/>
            <a:ext cx="59349" cy="27827985"/>
          </a:xfrm>
          <a:prstGeom prst="line">
            <a:avLst/>
          </a:prstGeom>
          <a:ln w="304800">
            <a:solidFill>
              <a:srgbClr val="9697C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2">
            <a:extLst>
              <a:ext uri="{FF2B5EF4-FFF2-40B4-BE49-F238E27FC236}">
                <a16:creationId xmlns:a16="http://schemas.microsoft.com/office/drawing/2014/main" id="{FD411EC1-D69A-5911-48A3-E2AB1AEA9238}"/>
              </a:ext>
            </a:extLst>
          </p:cNvPr>
          <p:cNvCxnSpPr>
            <a:cxnSpLocks/>
          </p:cNvCxnSpPr>
          <p:nvPr/>
        </p:nvCxnSpPr>
        <p:spPr>
          <a:xfrm>
            <a:off x="-19565" y="4486924"/>
            <a:ext cx="43952262" cy="0"/>
          </a:xfrm>
          <a:prstGeom prst="line">
            <a:avLst/>
          </a:prstGeom>
          <a:ln w="304800">
            <a:solidFill>
              <a:srgbClr val="9697C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组合 4">
            <a:extLst>
              <a:ext uri="{FF2B5EF4-FFF2-40B4-BE49-F238E27FC236}">
                <a16:creationId xmlns:a16="http://schemas.microsoft.com/office/drawing/2014/main" id="{AAF5A987-56CF-5997-4491-7C672651B996}"/>
              </a:ext>
            </a:extLst>
          </p:cNvPr>
          <p:cNvGrpSpPr/>
          <p:nvPr/>
        </p:nvGrpSpPr>
        <p:grpSpPr>
          <a:xfrm>
            <a:off x="16778001" y="4776123"/>
            <a:ext cx="21418112" cy="1329048"/>
            <a:chOff x="16762815" y="5527564"/>
            <a:chExt cx="21418112" cy="1329048"/>
          </a:xfrm>
        </p:grpSpPr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B8979176-1216-7873-E444-9586102EF6DE}"/>
                </a:ext>
              </a:extLst>
            </p:cNvPr>
            <p:cNvSpPr/>
            <p:nvPr/>
          </p:nvSpPr>
          <p:spPr>
            <a:xfrm>
              <a:off x="16762815" y="5527564"/>
              <a:ext cx="21418112" cy="1329048"/>
            </a:xfrm>
            <a:prstGeom prst="rect">
              <a:avLst/>
            </a:prstGeom>
            <a:solidFill>
              <a:srgbClr val="2E309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349" tIns="60672" rIns="121349" bIns="60672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1515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7348717B-F548-2344-5742-F90F0047BECB}"/>
                </a:ext>
              </a:extLst>
            </p:cNvPr>
            <p:cNvSpPr txBox="1"/>
            <p:nvPr/>
          </p:nvSpPr>
          <p:spPr>
            <a:xfrm>
              <a:off x="17442047" y="5634460"/>
              <a:ext cx="19793418" cy="1134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773" dirty="0">
                  <a:solidFill>
                    <a:schemeClr val="bg1"/>
                  </a:solidFill>
                  <a:latin typeface="Calibri" panose="020F0502020204030204" charset="0"/>
                  <a:ea typeface="Microsoft YaHei" panose="020B0503020204020204" pitchFamily="34" charset="-122"/>
                  <a:cs typeface="Calibri" panose="020F0502020204030204" charset="0"/>
                </a:rPr>
                <a:t>Contributions</a:t>
              </a:r>
            </a:p>
          </p:txBody>
        </p:sp>
      </p:grpSp>
      <p:cxnSp>
        <p:nvCxnSpPr>
          <p:cNvPr id="71" name="直接连接符 19">
            <a:extLst>
              <a:ext uri="{FF2B5EF4-FFF2-40B4-BE49-F238E27FC236}">
                <a16:creationId xmlns:a16="http://schemas.microsoft.com/office/drawing/2014/main" id="{4584E01D-534C-C027-E2D6-49A63BAC86C7}"/>
              </a:ext>
            </a:extLst>
          </p:cNvPr>
          <p:cNvCxnSpPr>
            <a:cxnSpLocks/>
          </p:cNvCxnSpPr>
          <p:nvPr/>
        </p:nvCxnSpPr>
        <p:spPr>
          <a:xfrm flipH="1">
            <a:off x="19280" y="32314909"/>
            <a:ext cx="43913417" cy="0"/>
          </a:xfrm>
          <a:prstGeom prst="line">
            <a:avLst/>
          </a:prstGeom>
          <a:ln w="304800">
            <a:solidFill>
              <a:srgbClr val="9697C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连接符 12">
            <a:extLst>
              <a:ext uri="{FF2B5EF4-FFF2-40B4-BE49-F238E27FC236}">
                <a16:creationId xmlns:a16="http://schemas.microsoft.com/office/drawing/2014/main" id="{3FB53874-007F-C516-F37F-5D4C85A1BDB1}"/>
              </a:ext>
            </a:extLst>
          </p:cNvPr>
          <p:cNvCxnSpPr>
            <a:cxnSpLocks/>
          </p:cNvCxnSpPr>
          <p:nvPr/>
        </p:nvCxnSpPr>
        <p:spPr>
          <a:xfrm flipV="1">
            <a:off x="254165" y="14250295"/>
            <a:ext cx="37887399" cy="47890"/>
          </a:xfrm>
          <a:prstGeom prst="line">
            <a:avLst/>
          </a:prstGeom>
          <a:ln w="304800">
            <a:solidFill>
              <a:srgbClr val="9697C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6" name="组合 115">
            <a:extLst>
              <a:ext uri="{FF2B5EF4-FFF2-40B4-BE49-F238E27FC236}">
                <a16:creationId xmlns:a16="http://schemas.microsoft.com/office/drawing/2014/main" id="{291931C6-E107-B9A5-CEF5-406046B8C51B}"/>
              </a:ext>
            </a:extLst>
          </p:cNvPr>
          <p:cNvGrpSpPr/>
          <p:nvPr/>
        </p:nvGrpSpPr>
        <p:grpSpPr>
          <a:xfrm>
            <a:off x="38410971" y="26700882"/>
            <a:ext cx="5304213" cy="2540555"/>
            <a:chOff x="38404905" y="11073577"/>
            <a:chExt cx="5304213" cy="2540555"/>
          </a:xfrm>
        </p:grpSpPr>
        <p:sp>
          <p:nvSpPr>
            <p:cNvPr id="89" name="TextBox 23">
              <a:extLst>
                <a:ext uri="{FF2B5EF4-FFF2-40B4-BE49-F238E27FC236}">
                  <a16:creationId xmlns:a16="http://schemas.microsoft.com/office/drawing/2014/main" id="{5D100306-E326-2F88-2007-1DAB80F9B1E5}"/>
                </a:ext>
              </a:extLst>
            </p:cNvPr>
            <p:cNvSpPr txBox="1"/>
            <p:nvPr/>
          </p:nvSpPr>
          <p:spPr>
            <a:xfrm>
              <a:off x="38552012" y="11890672"/>
              <a:ext cx="5157106" cy="1723460"/>
            </a:xfrm>
            <a:prstGeom prst="rect">
              <a:avLst/>
            </a:prstGeom>
            <a:noFill/>
          </p:spPr>
          <p:txBody>
            <a:bodyPr wrap="square" lIns="55284" tIns="27642" rIns="55284" bIns="27642" rtlCol="0">
              <a:spAutoFit/>
            </a:bodyPr>
            <a:lstStyle/>
            <a:p>
              <a:r>
                <a:rPr lang="en-US" sz="2709" dirty="0"/>
                <a:t>The corresponding author is with the Johns Hopkins University, Baltimore, MD, USA</a:t>
              </a:r>
              <a:r>
                <a:rPr lang="en-US" altLang="zh-CN" sz="2709" dirty="0"/>
                <a:t>,</a:t>
              </a:r>
              <a:r>
                <a:rPr lang="zh-CN" altLang="en-US" sz="2709" dirty="0"/>
                <a:t> </a:t>
              </a:r>
              <a:r>
                <a:rPr lang="en-US" altLang="zh-CN" sz="2709" dirty="0"/>
                <a:t>wliang14@jh.edu.</a:t>
              </a:r>
              <a:endParaRPr lang="en-US" sz="2709" dirty="0"/>
            </a:p>
          </p:txBody>
        </p:sp>
        <p:sp>
          <p:nvSpPr>
            <p:cNvPr id="90" name="TextBox 24">
              <a:extLst>
                <a:ext uri="{FF2B5EF4-FFF2-40B4-BE49-F238E27FC236}">
                  <a16:creationId xmlns:a16="http://schemas.microsoft.com/office/drawing/2014/main" id="{21C4AF9E-641B-D069-724E-A34338508529}"/>
                </a:ext>
              </a:extLst>
            </p:cNvPr>
            <p:cNvSpPr txBox="1"/>
            <p:nvPr/>
          </p:nvSpPr>
          <p:spPr>
            <a:xfrm>
              <a:off x="38404905" y="11073577"/>
              <a:ext cx="2233191" cy="750758"/>
            </a:xfrm>
            <a:prstGeom prst="rect">
              <a:avLst/>
            </a:prstGeom>
            <a:noFill/>
          </p:spPr>
          <p:txBody>
            <a:bodyPr wrap="none" lIns="55284" tIns="27642" rIns="55284" bIns="27642" rtlCol="0">
              <a:spAutoFit/>
            </a:bodyPr>
            <a:lstStyle/>
            <a:p>
              <a:r>
                <a:rPr lang="en-US" sz="4516" b="1" dirty="0"/>
                <a:t>Contact</a:t>
              </a:r>
            </a:p>
          </p:txBody>
        </p:sp>
      </p:grpSp>
      <p:sp>
        <p:nvSpPr>
          <p:cNvPr id="91" name="矩形 90">
            <a:extLst>
              <a:ext uri="{FF2B5EF4-FFF2-40B4-BE49-F238E27FC236}">
                <a16:creationId xmlns:a16="http://schemas.microsoft.com/office/drawing/2014/main" id="{4263A8E0-CD87-634A-0A12-90DAEA452DDE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82378" y="3275339"/>
            <a:ext cx="27541954" cy="10304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6096" dirty="0">
                <a:latin typeface="Calibri" panose="020F0502020204030204" charset="0"/>
                <a:ea typeface="Microsoft YaHei" panose="020B0503020204020204" pitchFamily="34" charset="-122"/>
                <a:cs typeface="Calibri" panose="020F0502020204030204" charset="0"/>
              </a:rPr>
              <a:t>Liang</a:t>
            </a:r>
            <a:r>
              <a:rPr lang="zh-CN" altLang="en-US" sz="6096" dirty="0">
                <a:latin typeface="Calibri" panose="020F0502020204030204" charset="0"/>
                <a:ea typeface="Microsoft YaHei" panose="020B0503020204020204" pitchFamily="34" charset="-122"/>
                <a:cs typeface="Calibri" panose="020F0502020204030204" charset="0"/>
              </a:rPr>
              <a:t> </a:t>
            </a:r>
            <a:r>
              <a:rPr lang="en-US" altLang="zh-CN" sz="6096" dirty="0">
                <a:latin typeface="Calibri" panose="020F0502020204030204" charset="0"/>
                <a:ea typeface="Microsoft YaHei" panose="020B0503020204020204" pitchFamily="34" charset="-122"/>
                <a:cs typeface="Calibri" panose="020F0502020204030204" charset="0"/>
              </a:rPr>
              <a:t>Wu</a:t>
            </a:r>
            <a:r>
              <a:rPr lang="en-US" altLang="zh-CN" sz="6096" dirty="0">
                <a:solidFill>
                  <a:srgbClr val="2E3033"/>
                </a:solidFill>
                <a:latin typeface="Calibri" panose="020F0502020204030204" charset="0"/>
                <a:ea typeface="Microsoft YaHei" panose="020B0503020204020204" pitchFamily="34" charset="-122"/>
                <a:cs typeface="Calibri" panose="020F0502020204030204" charset="0"/>
              </a:rPr>
              <a:t>, Bo Yang, </a:t>
            </a:r>
            <a:r>
              <a:rPr lang="en-US" altLang="zh-CN" sz="6096" dirty="0" err="1">
                <a:solidFill>
                  <a:srgbClr val="2E3033"/>
                </a:solidFill>
                <a:latin typeface="Calibri" panose="020F0502020204030204" charset="0"/>
                <a:ea typeface="Microsoft YaHei" panose="020B0503020204020204" pitchFamily="34" charset="-122"/>
                <a:cs typeface="Calibri" panose="020F0502020204030204" charset="0"/>
              </a:rPr>
              <a:t>Junheng</a:t>
            </a:r>
            <a:r>
              <a:rPr lang="en-US" altLang="zh-CN" sz="6096" dirty="0">
                <a:solidFill>
                  <a:srgbClr val="2E3033"/>
                </a:solidFill>
                <a:latin typeface="Calibri" panose="020F0502020204030204" charset="0"/>
                <a:ea typeface="Microsoft YaHei" panose="020B0503020204020204" pitchFamily="34" charset="-122"/>
                <a:cs typeface="Calibri" panose="020F0502020204030204" charset="0"/>
              </a:rPr>
              <a:t> Li, Xu Yang, Yilin Mo, Yang Shi,</a:t>
            </a:r>
            <a:r>
              <a:rPr lang="zh-CN" altLang="en-US" sz="6096" dirty="0">
                <a:solidFill>
                  <a:srgbClr val="2E3033"/>
                </a:solidFill>
                <a:latin typeface="Calibri" panose="020F0502020204030204" charset="0"/>
                <a:ea typeface="Microsoft YaHei" panose="020B0503020204020204" pitchFamily="34" charset="-122"/>
                <a:cs typeface="Calibri" panose="020F0502020204030204" charset="0"/>
              </a:rPr>
              <a:t> </a:t>
            </a:r>
            <a:r>
              <a:rPr lang="en-US" altLang="zh-CN" sz="6096" dirty="0">
                <a:solidFill>
                  <a:srgbClr val="2E3033"/>
                </a:solidFill>
                <a:latin typeface="Calibri" panose="020F0502020204030204" charset="0"/>
                <a:ea typeface="Microsoft YaHei" panose="020B0503020204020204" pitchFamily="34" charset="-122"/>
                <a:cs typeface="Calibri" panose="020F0502020204030204" charset="0"/>
              </a:rPr>
              <a:t>Aaron D. Ames, Jan </a:t>
            </a:r>
            <a:r>
              <a:rPr lang="en-US" altLang="zh-CN" sz="6096" dirty="0" err="1">
                <a:solidFill>
                  <a:srgbClr val="2E3033"/>
                </a:solidFill>
                <a:latin typeface="Calibri" panose="020F0502020204030204" charset="0"/>
                <a:ea typeface="Microsoft YaHei" panose="020B0503020204020204" pitchFamily="34" charset="-122"/>
                <a:cs typeface="Calibri" panose="020F0502020204030204" charset="0"/>
              </a:rPr>
              <a:t>Drgona</a:t>
            </a:r>
            <a:endParaRPr lang="en-US" altLang="zh-CN" sz="6096" baseline="30000" dirty="0">
              <a:solidFill>
                <a:srgbClr val="2E3033"/>
              </a:solidFill>
              <a:latin typeface="Calibri" panose="020F0502020204030204" charset="0"/>
              <a:ea typeface="Microsoft YaHei" panose="020B0503020204020204" pitchFamily="34" charset="-122"/>
              <a:cs typeface="Calibri" panose="020F0502020204030204" charset="0"/>
            </a:endParaRPr>
          </a:p>
        </p:txBody>
      </p:sp>
      <p:grpSp>
        <p:nvGrpSpPr>
          <p:cNvPr id="1031" name="组合 1030">
            <a:extLst>
              <a:ext uri="{FF2B5EF4-FFF2-40B4-BE49-F238E27FC236}">
                <a16:creationId xmlns:a16="http://schemas.microsoft.com/office/drawing/2014/main" id="{FE9992D0-A516-2DC4-9613-BED1441718F0}"/>
              </a:ext>
            </a:extLst>
          </p:cNvPr>
          <p:cNvGrpSpPr/>
          <p:nvPr/>
        </p:nvGrpSpPr>
        <p:grpSpPr>
          <a:xfrm>
            <a:off x="38288939" y="4883019"/>
            <a:ext cx="5589635" cy="21920054"/>
            <a:chOff x="38338498" y="26649211"/>
            <a:chExt cx="5589635" cy="21920054"/>
          </a:xfrm>
        </p:grpSpPr>
        <p:sp>
          <p:nvSpPr>
            <p:cNvPr id="96" name="TextBox 24">
              <a:extLst>
                <a:ext uri="{FF2B5EF4-FFF2-40B4-BE49-F238E27FC236}">
                  <a16:creationId xmlns:a16="http://schemas.microsoft.com/office/drawing/2014/main" id="{9B205021-AE4B-0977-612F-34AE3C9A3867}"/>
                </a:ext>
              </a:extLst>
            </p:cNvPr>
            <p:cNvSpPr txBox="1"/>
            <p:nvPr/>
          </p:nvSpPr>
          <p:spPr>
            <a:xfrm>
              <a:off x="38338498" y="26649211"/>
              <a:ext cx="3118012" cy="750758"/>
            </a:xfrm>
            <a:prstGeom prst="rect">
              <a:avLst/>
            </a:prstGeom>
            <a:noFill/>
          </p:spPr>
          <p:txBody>
            <a:bodyPr wrap="square" lIns="55284" tIns="27642" rIns="55284" bIns="27642" rtlCol="0">
              <a:spAutoFit/>
            </a:bodyPr>
            <a:lstStyle/>
            <a:p>
              <a:r>
                <a:rPr lang="en-US" altLang="zh-CN" sz="4516" b="1" dirty="0"/>
                <a:t>References</a:t>
              </a:r>
              <a:endParaRPr lang="en-US" sz="4516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7" name="TextBox 23">
                  <a:extLst>
                    <a:ext uri="{FF2B5EF4-FFF2-40B4-BE49-F238E27FC236}">
                      <a16:creationId xmlns:a16="http://schemas.microsoft.com/office/drawing/2014/main" id="{D31C0565-3EC4-CC2F-67BE-6101041D7039}"/>
                    </a:ext>
                  </a:extLst>
                </p:cNvPr>
                <p:cNvSpPr txBox="1"/>
                <p:nvPr/>
              </p:nvSpPr>
              <p:spPr>
                <a:xfrm>
                  <a:off x="38460530" y="27399969"/>
                  <a:ext cx="5467603" cy="21169296"/>
                </a:xfrm>
                <a:prstGeom prst="rect">
                  <a:avLst/>
                </a:prstGeom>
                <a:noFill/>
              </p:spPr>
              <p:txBody>
                <a:bodyPr wrap="square" lIns="55284" tIns="27642" rIns="55284" bIns="27642" rtlCol="0">
                  <a:spAutoFit/>
                </a:bodyPr>
                <a:lstStyle/>
                <a:p>
                  <a:r>
                    <a:rPr lang="en-US" altLang="zh-CN" sz="3200" dirty="0">
                      <a:solidFill>
                        <a:schemeClr val="tx1"/>
                      </a:solidFill>
                    </a:rPr>
                    <a:t>[</a:t>
                  </a:r>
                  <a:r>
                    <a:rPr lang="en-US" altLang="zh-CN" sz="2800" dirty="0">
                      <a:solidFill>
                        <a:schemeClr val="tx1"/>
                      </a:solidFill>
                    </a:rPr>
                    <a:t>1]</a:t>
                  </a:r>
                  <a:r>
                    <a:rPr lang="zh-CN" altLang="en-US" sz="2800" dirty="0">
                      <a:solidFill>
                        <a:schemeClr val="tx1"/>
                      </a:solidFill>
                    </a:rPr>
                    <a:t> </a:t>
                  </a:r>
                  <a:r>
                    <a:rPr lang="en-US" altLang="zh-CN" sz="2800" b="1" u="sng" dirty="0">
                      <a:solidFill>
                        <a:schemeClr val="tx1"/>
                      </a:solidFill>
                    </a:rPr>
                    <a:t>L. Wu</a:t>
                  </a:r>
                  <a:r>
                    <a:rPr lang="en-US" altLang="zh-CN" sz="2800" dirty="0">
                      <a:solidFill>
                        <a:schemeClr val="tx1"/>
                      </a:solidFill>
                    </a:rPr>
                    <a:t>, B. Yang, J. Li, X. Yang, Y. Mo, Y. Shi, A. A. Ames, and J. </a:t>
                  </a:r>
                  <a:r>
                    <a:rPr lang="en-US" altLang="zh-CN" sz="2800" dirty="0" err="1">
                      <a:solidFill>
                        <a:schemeClr val="tx1"/>
                      </a:solidFill>
                    </a:rPr>
                    <a:t>Drgoňa</a:t>
                  </a:r>
                  <a:r>
                    <a:rPr lang="en-US" altLang="zh-CN" sz="2800" dirty="0">
                      <a:solidFill>
                        <a:schemeClr val="tx1"/>
                      </a:solidFill>
                    </a:rPr>
                    <a:t>. "</a:t>
                  </a:r>
                  <a14:m>
                    <m:oMath xmlns:m="http://schemas.openxmlformats.org/officeDocument/2006/math">
                      <m:r>
                        <a:rPr lang="en-US" altLang="zh-CN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</m:oMath>
                  </a14:m>
                  <a:r>
                    <a:rPr lang="en-US" altLang="zh-CN" sz="2800" dirty="0">
                      <a:solidFill>
                        <a:schemeClr val="tx1"/>
                      </a:solidFill>
                    </a:rPr>
                    <a:t>MPC: A Parallel-in-horizon and Construction-free NMPC Solver." arXiv:2601.14414 (2026) </a:t>
                  </a:r>
                  <a:r>
                    <a:rPr lang="en-US" altLang="zh-CN" sz="2800" b="1" dirty="0">
                      <a:solidFill>
                        <a:schemeClr val="accent5"/>
                      </a:solidFill>
                    </a:rPr>
                    <a:t>(under review by IEEE Transactions on Automatic Control).</a:t>
                  </a:r>
                </a:p>
                <a:p>
                  <a:endParaRPr lang="en-US" altLang="zh-CN" sz="2800" dirty="0">
                    <a:solidFill>
                      <a:schemeClr val="accent5"/>
                    </a:solidFill>
                  </a:endParaRPr>
                </a:p>
                <a:p>
                  <a:r>
                    <a:rPr lang="en-US" altLang="zh-CN" sz="2800" dirty="0">
                      <a:solidFill>
                        <a:schemeClr val="tx1"/>
                      </a:solidFill>
                    </a:rPr>
                    <a:t>[2] </a:t>
                  </a:r>
                  <a:r>
                    <a:rPr lang="en-US" altLang="zh-CN" sz="2800" b="1" u="sng" dirty="0">
                      <a:solidFill>
                        <a:schemeClr val="tx1"/>
                      </a:solidFill>
                    </a:rPr>
                    <a:t>L. Wu </a:t>
                  </a:r>
                  <a:r>
                    <a:rPr lang="en-US" altLang="zh-CN" sz="2800" dirty="0">
                      <a:solidFill>
                        <a:schemeClr val="tx1"/>
                      </a:solidFill>
                    </a:rPr>
                    <a:t>and R.D. Braatz, "A Direct Optimization Algorithm for Input-Constrained MPC", </a:t>
                  </a:r>
                  <a:r>
                    <a:rPr lang="en-US" altLang="zh-CN" sz="3200" b="1" dirty="0">
                      <a:solidFill>
                        <a:schemeClr val="accent5"/>
                      </a:solidFill>
                    </a:rPr>
                    <a:t>IEEE Transactions on Automatic Control</a:t>
                  </a:r>
                  <a:r>
                    <a:rPr lang="en-US" altLang="zh-CN" sz="2800" dirty="0">
                      <a:solidFill>
                        <a:schemeClr val="tx1"/>
                      </a:solidFill>
                    </a:rPr>
                    <a:t>, 2025, vol. 70, no. 2, pp. 1366-1373</a:t>
                  </a:r>
                </a:p>
                <a:p>
                  <a:endParaRPr lang="en-US" altLang="zh-CN" sz="2800" dirty="0">
                    <a:solidFill>
                      <a:schemeClr val="tx1"/>
                    </a:solidFill>
                  </a:endParaRPr>
                </a:p>
                <a:p>
                  <a:r>
                    <a:rPr lang="en-US" altLang="zh-CN" sz="2800" dirty="0">
                      <a:solidFill>
                        <a:schemeClr val="tx1"/>
                      </a:solidFill>
                    </a:rPr>
                    <a:t>[3] </a:t>
                  </a:r>
                  <a:r>
                    <a:rPr lang="en-US" altLang="zh-CN" sz="2800" b="1" u="sng" dirty="0">
                      <a:solidFill>
                        <a:schemeClr val="tx1"/>
                      </a:solidFill>
                    </a:rPr>
                    <a:t>L. Wu </a:t>
                  </a:r>
                  <a:r>
                    <a:rPr lang="en-US" altLang="zh-CN" sz="2800" dirty="0">
                      <a:solidFill>
                        <a:schemeClr val="tx1"/>
                      </a:solidFill>
                    </a:rPr>
                    <a:t>and A. </a:t>
                  </a:r>
                  <a:r>
                    <a:rPr lang="en-US" altLang="zh-CN" sz="2800" dirty="0" err="1">
                      <a:solidFill>
                        <a:schemeClr val="tx1"/>
                      </a:solidFill>
                    </a:rPr>
                    <a:t>Bemporad</a:t>
                  </a:r>
                  <a:r>
                    <a:rPr lang="en-US" altLang="zh-CN" sz="2800" dirty="0">
                      <a:solidFill>
                        <a:schemeClr val="tx1"/>
                      </a:solidFill>
                    </a:rPr>
                    <a:t>, "A Simple and Fast Coordinate-Descent Augmented-</a:t>
                  </a:r>
                  <a:r>
                    <a:rPr lang="en-US" altLang="zh-CN" sz="2800" dirty="0" err="1">
                      <a:solidFill>
                        <a:schemeClr val="tx1"/>
                      </a:solidFill>
                    </a:rPr>
                    <a:t>Lagrangian</a:t>
                  </a:r>
                  <a:r>
                    <a:rPr lang="en-US" altLang="zh-CN" sz="2800" dirty="0">
                      <a:solidFill>
                        <a:schemeClr val="tx1"/>
                      </a:solidFill>
                    </a:rPr>
                    <a:t> Solver for Model Predictive Control", </a:t>
                  </a:r>
                  <a:r>
                    <a:rPr lang="en-US" altLang="zh-CN" sz="3200" b="1" dirty="0">
                      <a:solidFill>
                        <a:schemeClr val="accent5"/>
                      </a:solidFill>
                    </a:rPr>
                    <a:t>IEEE Transactions on Automatic Control</a:t>
                  </a:r>
                  <a:r>
                    <a:rPr lang="en-US" altLang="zh-CN" sz="2800" dirty="0">
                      <a:solidFill>
                        <a:schemeClr val="tx1"/>
                      </a:solidFill>
                    </a:rPr>
                    <a:t>, 2023, vol. 68, no. 11, pp. 6860-6866.</a:t>
                  </a:r>
                </a:p>
                <a:p>
                  <a:endParaRPr lang="en-US" altLang="zh-CN" sz="2800" dirty="0">
                    <a:solidFill>
                      <a:schemeClr val="tx1"/>
                    </a:solidFill>
                  </a:endParaRPr>
                </a:p>
                <a:p>
                  <a:r>
                    <a:rPr lang="en-US" altLang="zh-CN" sz="2800" dirty="0">
                      <a:solidFill>
                        <a:schemeClr val="tx1"/>
                      </a:solidFill>
                    </a:rPr>
                    <a:t>[4] </a:t>
                  </a:r>
                  <a:r>
                    <a:rPr lang="en-US" altLang="zh-CN" sz="2800" b="1" u="sng" dirty="0">
                      <a:solidFill>
                        <a:schemeClr val="tx1"/>
                      </a:solidFill>
                    </a:rPr>
                    <a:t>L. Wu</a:t>
                  </a:r>
                  <a:r>
                    <a:rPr lang="en-US" altLang="zh-CN" sz="2800" dirty="0">
                      <a:solidFill>
                        <a:schemeClr val="tx1"/>
                      </a:solidFill>
                    </a:rPr>
                    <a:t>, W. Xiao and R.D. Braatz, "EIQP: Execution-time-certified and Infeasibility-detecting QP Solver", </a:t>
                  </a:r>
                  <a:r>
                    <a:rPr lang="en-US" altLang="zh-CN" sz="3200" b="1" dirty="0">
                      <a:solidFill>
                        <a:schemeClr val="accent5"/>
                      </a:solidFill>
                    </a:rPr>
                    <a:t>IEEE Transactions on Automatic Control</a:t>
                  </a:r>
                  <a:r>
                    <a:rPr lang="en-US" altLang="zh-CN" sz="2800" dirty="0">
                      <a:solidFill>
                        <a:schemeClr val="tx1"/>
                      </a:solidFill>
                    </a:rPr>
                    <a:t>, </a:t>
                  </a:r>
                  <a:r>
                    <a:rPr lang="en-US" altLang="zh-CN" sz="2800" dirty="0"/>
                    <a:t>2025, vol. 71, no. 5, pp. 2934-2949.</a:t>
                  </a:r>
                </a:p>
                <a:p>
                  <a:endParaRPr lang="en-US" altLang="zh-CN" sz="2800" dirty="0">
                    <a:solidFill>
                      <a:schemeClr val="tx1"/>
                    </a:solidFill>
                  </a:endParaRPr>
                </a:p>
                <a:p>
                  <a:r>
                    <a:rPr lang="en-US" altLang="zh-CN" sz="2800" dirty="0">
                      <a:solidFill>
                        <a:schemeClr val="tx1"/>
                      </a:solidFill>
                    </a:rPr>
                    <a:t>[5] </a:t>
                  </a:r>
                  <a:r>
                    <a:rPr lang="en-US" altLang="zh-CN" sz="2800" b="1" u="sng" dirty="0">
                      <a:solidFill>
                        <a:schemeClr val="tx1"/>
                      </a:solidFill>
                    </a:rPr>
                    <a:t>L. Wu </a:t>
                  </a:r>
                  <a:r>
                    <a:rPr lang="en-US" altLang="zh-CN" sz="2800" dirty="0">
                      <a:solidFill>
                        <a:schemeClr val="tx1"/>
                      </a:solidFill>
                    </a:rPr>
                    <a:t>and R.D. Braatz, "A Quadratic Programming Algorithm with </a:t>
                  </a:r>
                  <a14:m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altLang="zh-CN" sz="2800" dirty="0">
                      <a:solidFill>
                        <a:schemeClr val="tx1"/>
                      </a:solidFill>
                    </a:rPr>
                    <a:t> Time Complexity", </a:t>
                  </a:r>
                  <a:r>
                    <a:rPr lang="en-US" altLang="zh-CN" sz="3200" b="1" dirty="0">
                      <a:solidFill>
                        <a:schemeClr val="accent5"/>
                      </a:solidFill>
                    </a:rPr>
                    <a:t>IEEE Transactions on Automatic Control</a:t>
                  </a:r>
                  <a:r>
                    <a:rPr lang="en-US" altLang="zh-CN" sz="3200" dirty="0">
                      <a:solidFill>
                        <a:schemeClr val="tx1"/>
                      </a:solidFill>
                    </a:rPr>
                    <a:t>,</a:t>
                  </a:r>
                  <a:r>
                    <a:rPr lang="en-US" altLang="zh-CN" sz="2800" dirty="0"/>
                    <a:t>2026, DOI: 10.1109/TAC.2026.3673192.</a:t>
                  </a:r>
                  <a:endParaRPr lang="en-US" altLang="zh-CN" sz="2800" dirty="0">
                    <a:solidFill>
                      <a:schemeClr val="tx1"/>
                    </a:solidFill>
                  </a:endParaRPr>
                </a:p>
                <a:p>
                  <a:endParaRPr lang="en-US" altLang="zh-CN" sz="2800" dirty="0">
                    <a:solidFill>
                      <a:schemeClr val="tx1"/>
                    </a:solidFill>
                  </a:endParaRPr>
                </a:p>
                <a:p>
                  <a:r>
                    <a:rPr lang="en-US" altLang="zh-CN" sz="2800" dirty="0">
                      <a:solidFill>
                        <a:schemeClr val="tx1"/>
                      </a:solidFill>
                    </a:rPr>
                    <a:t>[6] </a:t>
                  </a:r>
                  <a:r>
                    <a:rPr lang="en-US" altLang="zh-CN" sz="2800" b="1" u="sng" dirty="0">
                      <a:solidFill>
                        <a:schemeClr val="tx1"/>
                      </a:solidFill>
                    </a:rPr>
                    <a:t>L. Wu</a:t>
                  </a:r>
                  <a:r>
                    <a:rPr lang="en-US" altLang="zh-CN" sz="2800" dirty="0">
                      <a:solidFill>
                        <a:schemeClr val="tx1"/>
                      </a:solidFill>
                    </a:rPr>
                    <a:t>, A. </a:t>
                  </a:r>
                  <a:r>
                    <a:rPr lang="en-US" altLang="zh-CN" sz="2800" dirty="0" err="1">
                      <a:solidFill>
                        <a:schemeClr val="tx1"/>
                      </a:solidFill>
                    </a:rPr>
                    <a:t>Adegbege</a:t>
                  </a:r>
                  <a:r>
                    <a:rPr lang="en-US" altLang="zh-CN" sz="2800" dirty="0">
                      <a:solidFill>
                        <a:schemeClr val="tx1"/>
                      </a:solidFill>
                    </a:rPr>
                    <a:t>, Y. Song, and R.D. Braatz, “Arbitrarily Small Execution-Time Certificate: what was missed in Analog Optimization”, </a:t>
                  </a:r>
                  <a:r>
                    <a:rPr lang="en-US" altLang="zh-CN" sz="3200" b="1" dirty="0">
                      <a:solidFill>
                        <a:schemeClr val="accent5"/>
                      </a:solidFill>
                    </a:rPr>
                    <a:t>IEEE Transactions on Automatic Control</a:t>
                  </a:r>
                  <a:r>
                    <a:rPr lang="en-US" altLang="zh-CN" sz="2800" dirty="0">
                      <a:solidFill>
                        <a:schemeClr val="tx1"/>
                      </a:solidFill>
                    </a:rPr>
                    <a:t>, </a:t>
                  </a:r>
                  <a:r>
                    <a:rPr lang="en-US" altLang="zh-CN" sz="2800" dirty="0"/>
                    <a:t>2026, vol. 71, no. 5, pp. 3487-3494.</a:t>
                  </a:r>
                  <a:endParaRPr lang="en-US" altLang="zh-CN" sz="2800" dirty="0">
                    <a:solidFill>
                      <a:schemeClr val="tx1"/>
                    </a:solidFill>
                  </a:endParaRPr>
                </a:p>
                <a:p>
                  <a:endParaRPr lang="en-US" altLang="zh-CN" sz="2800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97" name="TextBox 23">
                  <a:extLst>
                    <a:ext uri="{FF2B5EF4-FFF2-40B4-BE49-F238E27FC236}">
                      <a16:creationId xmlns:a16="http://schemas.microsoft.com/office/drawing/2014/main" id="{D31C0565-3EC4-CC2F-67BE-6101041D70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60530" y="27399969"/>
                  <a:ext cx="5467603" cy="21169296"/>
                </a:xfrm>
                <a:prstGeom prst="rect">
                  <a:avLst/>
                </a:prstGeom>
                <a:blipFill>
                  <a:blip r:embed="rId14"/>
                  <a:stretch>
                    <a:fillRect l="-3472" t="-480" r="-486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3" name="矩形 22">
            <a:extLst>
              <a:ext uri="{FF2B5EF4-FFF2-40B4-BE49-F238E27FC236}">
                <a16:creationId xmlns:a16="http://schemas.microsoft.com/office/drawing/2014/main" id="{E92362B8-24B1-77A8-41A0-AFB07B248538}"/>
              </a:ext>
            </a:extLst>
          </p:cNvPr>
          <p:cNvSpPr/>
          <p:nvPr/>
        </p:nvSpPr>
        <p:spPr>
          <a:xfrm>
            <a:off x="16778001" y="6262104"/>
            <a:ext cx="21363563" cy="765814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AB00A5F-FA1B-AE4C-18DE-8548557E9755}"/>
              </a:ext>
            </a:extLst>
          </p:cNvPr>
          <p:cNvSpPr/>
          <p:nvPr/>
        </p:nvSpPr>
        <p:spPr>
          <a:xfrm>
            <a:off x="448336" y="16077231"/>
            <a:ext cx="16151113" cy="1591381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0A4A87B-0E0B-BD02-D3ED-AFF58E54582D}"/>
              </a:ext>
            </a:extLst>
          </p:cNvPr>
          <p:cNvSpPr/>
          <p:nvPr/>
        </p:nvSpPr>
        <p:spPr>
          <a:xfrm>
            <a:off x="16778001" y="16092096"/>
            <a:ext cx="21363563" cy="1591381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9D2E25AA-2196-EE28-8CB0-D9F259826B15}"/>
              </a:ext>
            </a:extLst>
          </p:cNvPr>
          <p:cNvGrpSpPr/>
          <p:nvPr/>
        </p:nvGrpSpPr>
        <p:grpSpPr>
          <a:xfrm>
            <a:off x="382378" y="14564183"/>
            <a:ext cx="16217072" cy="1329048"/>
            <a:chOff x="16762815" y="5527564"/>
            <a:chExt cx="21418112" cy="1329048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AA0F42BE-08FB-ABAA-0BE1-175AA147E8DF}"/>
                </a:ext>
              </a:extLst>
            </p:cNvPr>
            <p:cNvSpPr/>
            <p:nvPr/>
          </p:nvSpPr>
          <p:spPr>
            <a:xfrm>
              <a:off x="16762815" y="5527564"/>
              <a:ext cx="21418112" cy="1329048"/>
            </a:xfrm>
            <a:prstGeom prst="rect">
              <a:avLst/>
            </a:prstGeom>
            <a:solidFill>
              <a:srgbClr val="2E309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349" tIns="60672" rIns="121349" bIns="60672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1515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7E5A2831-9FC7-8598-137B-C687042964EC}"/>
                </a:ext>
              </a:extLst>
            </p:cNvPr>
            <p:cNvSpPr txBox="1"/>
            <p:nvPr/>
          </p:nvSpPr>
          <p:spPr>
            <a:xfrm>
              <a:off x="17442047" y="5634460"/>
              <a:ext cx="19793418" cy="1134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773" dirty="0">
                  <a:solidFill>
                    <a:schemeClr val="bg1"/>
                  </a:solidFill>
                  <a:latin typeface="Calibri" panose="020F0502020204030204" charset="0"/>
                  <a:ea typeface="Microsoft YaHei" panose="020B0503020204020204" pitchFamily="34" charset="-122"/>
                  <a:cs typeface="Calibri" panose="020F0502020204030204" charset="0"/>
                </a:rPr>
                <a:t>Implementation</a:t>
              </a: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D26EC0FA-014B-55FB-460E-1FEFAB91DDC2}"/>
              </a:ext>
            </a:extLst>
          </p:cNvPr>
          <p:cNvGrpSpPr/>
          <p:nvPr/>
        </p:nvGrpSpPr>
        <p:grpSpPr>
          <a:xfrm>
            <a:off x="16778001" y="14590349"/>
            <a:ext cx="21418112" cy="1329048"/>
            <a:chOff x="16762815" y="5527564"/>
            <a:chExt cx="21418112" cy="1329048"/>
          </a:xfrm>
        </p:grpSpPr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D5FCEB15-1669-082C-4F62-16FBC3A7D180}"/>
                </a:ext>
              </a:extLst>
            </p:cNvPr>
            <p:cNvSpPr/>
            <p:nvPr/>
          </p:nvSpPr>
          <p:spPr>
            <a:xfrm>
              <a:off x="16762815" y="5527564"/>
              <a:ext cx="21418112" cy="1329048"/>
            </a:xfrm>
            <a:prstGeom prst="rect">
              <a:avLst/>
            </a:prstGeom>
            <a:solidFill>
              <a:srgbClr val="2E309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349" tIns="60672" rIns="121349" bIns="60672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1515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1683968D-13E4-AAE2-AA33-DFC95F0AFFE4}"/>
                </a:ext>
              </a:extLst>
            </p:cNvPr>
            <p:cNvSpPr txBox="1"/>
            <p:nvPr/>
          </p:nvSpPr>
          <p:spPr>
            <a:xfrm>
              <a:off x="17442047" y="5634460"/>
              <a:ext cx="19793418" cy="1134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773" dirty="0">
                  <a:solidFill>
                    <a:schemeClr val="bg1"/>
                  </a:solidFill>
                  <a:latin typeface="Calibri" panose="020F0502020204030204" charset="0"/>
                  <a:ea typeface="Microsoft YaHei" panose="020B0503020204020204" pitchFamily="34" charset="-122"/>
                  <a:cs typeface="Calibri" panose="020F0502020204030204" charset="0"/>
                </a:rPr>
                <a:t>Numerical Experiments</a:t>
              </a:r>
            </a:p>
          </p:txBody>
        </p:sp>
      </p:grpSp>
      <p:sp>
        <p:nvSpPr>
          <p:cNvPr id="54" name="矩形 53">
            <a:extLst>
              <a:ext uri="{FF2B5EF4-FFF2-40B4-BE49-F238E27FC236}">
                <a16:creationId xmlns:a16="http://schemas.microsoft.com/office/drawing/2014/main" id="{B77567E5-9949-7244-D40F-532210EA368A}"/>
              </a:ext>
            </a:extLst>
          </p:cNvPr>
          <p:cNvSpPr/>
          <p:nvPr/>
        </p:nvSpPr>
        <p:spPr>
          <a:xfrm>
            <a:off x="28586048" y="1553427"/>
            <a:ext cx="3208468" cy="1621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9934" dirty="0">
                <a:latin typeface="Calibri" panose="020F0502020204030204" charset="0"/>
                <a:ea typeface="Microsoft YaHei" panose="020B0503020204020204" pitchFamily="34" charset="-122"/>
                <a:cs typeface="Calibri" panose="020F0502020204030204" charset="0"/>
              </a:rPr>
              <a:t>Code:</a:t>
            </a:r>
            <a:endParaRPr lang="zh-CN" altLang="en-US" sz="9934" dirty="0">
              <a:latin typeface="Calibri" panose="020F0502020204030204" charset="0"/>
              <a:ea typeface="Microsoft YaHei" panose="020B0503020204020204" pitchFamily="34" charset="-122"/>
              <a:cs typeface="Calibri" panose="020F0502020204030204" charset="0"/>
            </a:endParaRPr>
          </a:p>
        </p:txBody>
      </p:sp>
      <p:pic>
        <p:nvPicPr>
          <p:cNvPr id="1028" name="Picture 4" descr="Johns Hopkins University Logo PNG (Transparent) SVG AI – Free Download">
            <a:extLst>
              <a:ext uri="{FF2B5EF4-FFF2-40B4-BE49-F238E27FC236}">
                <a16:creationId xmlns:a16="http://schemas.microsoft.com/office/drawing/2014/main" id="{76E5E843-FA4E-CAA1-59D1-A62402FE166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966"/>
          <a:stretch>
            <a:fillRect/>
          </a:stretch>
        </p:blipFill>
        <p:spPr bwMode="auto">
          <a:xfrm>
            <a:off x="36106964" y="762886"/>
            <a:ext cx="6029917" cy="1312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" name="矩形 52">
            <a:extLst>
              <a:ext uri="{FF2B5EF4-FFF2-40B4-BE49-F238E27FC236}">
                <a16:creationId xmlns:a16="http://schemas.microsoft.com/office/drawing/2014/main" id="{F90E39E5-AB1F-D676-20FA-EBE850A6C596}"/>
              </a:ext>
            </a:extLst>
          </p:cNvPr>
          <p:cNvSpPr/>
          <p:nvPr/>
        </p:nvSpPr>
        <p:spPr>
          <a:xfrm>
            <a:off x="382378" y="6256330"/>
            <a:ext cx="16179852" cy="765814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0CDDD35E-A197-DA69-C2DB-242BCC45CC93}"/>
              </a:ext>
            </a:extLst>
          </p:cNvPr>
          <p:cNvSpPr txBox="1"/>
          <p:nvPr/>
        </p:nvSpPr>
        <p:spPr>
          <a:xfrm>
            <a:off x="17479535" y="22040416"/>
            <a:ext cx="1000752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πMPC </a:t>
            </a:r>
            <a:r>
              <a:rPr lang="en-US" altLang="zh-CN" sz="40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does not sacrifice the iteration convergence speed (its number of iterations is comparable to other ADMM variants)</a:t>
            </a:r>
            <a:endParaRPr lang="zh-CN" altLang="en-US" sz="40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A2A8E87F-BE96-4B1C-3B79-B0E47F6C1D1F}"/>
              </a:ext>
            </a:extLst>
          </p:cNvPr>
          <p:cNvSpPr txBox="1"/>
          <p:nvPr/>
        </p:nvSpPr>
        <p:spPr>
          <a:xfrm>
            <a:off x="28188592" y="22533447"/>
            <a:ext cx="927803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l-GR" altLang="zh-CN" sz="40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altLang="zh-CN" sz="40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MPC on GPU maintains scalable performance and ha no out of memory issue</a:t>
            </a:r>
            <a:endParaRPr lang="zh-CN" altLang="en-US" sz="40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6" name="图片 75">
            <a:extLst>
              <a:ext uri="{FF2B5EF4-FFF2-40B4-BE49-F238E27FC236}">
                <a16:creationId xmlns:a16="http://schemas.microsoft.com/office/drawing/2014/main" id="{40C5999B-1A28-6533-0B32-8BD3DAEAA64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8061179" y="16695369"/>
            <a:ext cx="7655487" cy="5367162"/>
          </a:xfrm>
          <a:prstGeom prst="rect">
            <a:avLst/>
          </a:prstGeom>
        </p:spPr>
      </p:pic>
      <p:sp>
        <p:nvSpPr>
          <p:cNvPr id="79" name="加号 78">
            <a:extLst>
              <a:ext uri="{FF2B5EF4-FFF2-40B4-BE49-F238E27FC236}">
                <a16:creationId xmlns:a16="http://schemas.microsoft.com/office/drawing/2014/main" id="{57485398-A2E0-2FC2-299C-F7CF5D072788}"/>
              </a:ext>
            </a:extLst>
          </p:cNvPr>
          <p:cNvSpPr>
            <a:spLocks noChangeAspect="1"/>
          </p:cNvSpPr>
          <p:nvPr/>
        </p:nvSpPr>
        <p:spPr>
          <a:xfrm>
            <a:off x="28610435" y="7623293"/>
            <a:ext cx="1958340" cy="1958340"/>
          </a:xfrm>
          <a:prstGeom prst="mathPlus">
            <a:avLst/>
          </a:prstGeom>
          <a:solidFill>
            <a:schemeClr val="accent4">
              <a:lumMod val="60000"/>
              <a:lumOff val="40000"/>
              <a:alpha val="7342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107" name="组合 106">
            <a:extLst>
              <a:ext uri="{FF2B5EF4-FFF2-40B4-BE49-F238E27FC236}">
                <a16:creationId xmlns:a16="http://schemas.microsoft.com/office/drawing/2014/main" id="{B35D0BB1-6318-5771-A9F8-86C532A818F6}"/>
              </a:ext>
            </a:extLst>
          </p:cNvPr>
          <p:cNvGrpSpPr/>
          <p:nvPr/>
        </p:nvGrpSpPr>
        <p:grpSpPr>
          <a:xfrm>
            <a:off x="7735215" y="6417668"/>
            <a:ext cx="9114472" cy="7150205"/>
            <a:chOff x="7735215" y="6417668"/>
            <a:chExt cx="9114472" cy="7150205"/>
          </a:xfrm>
        </p:grpSpPr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2788A5C8-EEAD-9A5A-6DA5-AA6EBAD8048D}"/>
                </a:ext>
              </a:extLst>
            </p:cNvPr>
            <p:cNvSpPr txBox="1"/>
            <p:nvPr/>
          </p:nvSpPr>
          <p:spPr>
            <a:xfrm>
              <a:off x="7791043" y="6417668"/>
              <a:ext cx="8990288" cy="10772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3200" b="1" dirty="0">
                  <a:solidFill>
                    <a:schemeClr val="accent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ADMM: </a:t>
              </a:r>
              <a:r>
                <a:rPr lang="en-US" altLang="zh-CN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promising in lower the barrier of embedded NMPC deployment</a:t>
              </a:r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99E1696C-3F22-441A-6995-9E17D8E57C87}"/>
                </a:ext>
              </a:extLst>
            </p:cNvPr>
            <p:cNvSpPr txBox="1"/>
            <p:nvPr/>
          </p:nvSpPr>
          <p:spPr>
            <a:xfrm>
              <a:off x="7873794" y="7537775"/>
              <a:ext cx="851174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Wingdings" pitchFamily="2" charset="2"/>
                <a:buChar char="n"/>
              </a:pPr>
              <a:r>
                <a:rPr lang="en-US" altLang="zh-CN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code simplicity &amp; pain-free parameter selection</a:t>
              </a:r>
            </a:p>
          </p:txBody>
        </p: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45D60EAA-85E4-99C3-5A60-E72A897DEF69}"/>
                </a:ext>
              </a:extLst>
            </p:cNvPr>
            <p:cNvSpPr txBox="1"/>
            <p:nvPr/>
          </p:nvSpPr>
          <p:spPr>
            <a:xfrm>
              <a:off x="7735215" y="8406221"/>
              <a:ext cx="613729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3600" b="1" dirty="0">
                  <a:solidFill>
                    <a:schemeClr val="accent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ADMM </a:t>
              </a:r>
              <a:r>
                <a:rPr lang="en-US" altLang="zh-CN"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 </a:t>
              </a:r>
              <a:r>
                <a:rPr lang="en-US" altLang="zh-CN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solving</a:t>
              </a:r>
              <a:r>
                <a:rPr lang="en-US" altLang="zh-CN"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3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RTI-NMPC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1" name="文本框 80">
                  <a:extLst>
                    <a:ext uri="{FF2B5EF4-FFF2-40B4-BE49-F238E27FC236}">
                      <a16:creationId xmlns:a16="http://schemas.microsoft.com/office/drawing/2014/main" id="{FEF1A88F-DB81-F453-E25B-DFB49EA8CB88}"/>
                    </a:ext>
                  </a:extLst>
                </p:cNvPr>
                <p:cNvSpPr txBox="1"/>
                <p:nvPr/>
              </p:nvSpPr>
              <p:spPr>
                <a:xfrm>
                  <a:off x="7830310" y="9105470"/>
                  <a:ext cx="9019377" cy="158081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sz="32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(1) ADMM for general QP: </a:t>
                  </a:r>
                </a:p>
                <a:p>
                  <a:pPr marL="285750" indent="-285750">
                    <a:buFont typeface="Wingdings" pitchFamily="2" charset="2"/>
                    <a:buChar char="n"/>
                  </a:pPr>
                  <a:r>
                    <a:rPr lang="en-US" altLang="zh-CN" sz="3200" b="1" dirty="0">
                      <a:solidFill>
                        <a:schemeClr val="accent6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requires online MPC-to-QP construction</a:t>
                  </a:r>
                </a:p>
                <a:p>
                  <a:pPr marL="285750" indent="-285750">
                    <a:buFont typeface="Wingdings" pitchFamily="2" charset="2"/>
                    <a:buChar char="n"/>
                  </a:pPr>
                  <a:r>
                    <a:rPr lang="en-US" altLang="zh-CN" sz="3200" b="1" dirty="0">
                      <a:solidFill>
                        <a:schemeClr val="accent6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requires one big-matrix inverse cache (</a:t>
                  </a:r>
                  <a14:m>
                    <m:oMath xmlns:m="http://schemas.openxmlformats.org/officeDocument/2006/math">
                      <m:r>
                        <a:rPr lang="en-US" altLang="zh-CN" sz="3200" b="1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𝑶</m:t>
                      </m:r>
                      <m:r>
                        <a:rPr lang="en-US" altLang="zh-CN" sz="3200" b="1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zh-CN" sz="32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32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𝑵</m:t>
                          </m:r>
                        </m:e>
                        <m:sup>
                          <m:r>
                            <a:rPr lang="en-US" altLang="zh-CN" sz="32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n-US" altLang="zh-CN" sz="3200" b="1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a14:m>
                  <a:r>
                    <a:rPr lang="en-US" altLang="zh-CN" sz="3200" b="1" dirty="0">
                      <a:solidFill>
                        <a:schemeClr val="accent6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)</a:t>
                  </a:r>
                </a:p>
              </p:txBody>
            </p:sp>
          </mc:Choice>
          <mc:Fallback>
            <p:sp>
              <p:nvSpPr>
                <p:cNvPr id="81" name="文本框 80">
                  <a:extLst>
                    <a:ext uri="{FF2B5EF4-FFF2-40B4-BE49-F238E27FC236}">
                      <a16:creationId xmlns:a16="http://schemas.microsoft.com/office/drawing/2014/main" id="{FEF1A88F-DB81-F453-E25B-DFB49EA8CB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30310" y="9105470"/>
                  <a:ext cx="9019377" cy="1580817"/>
                </a:xfrm>
                <a:prstGeom prst="rect">
                  <a:avLst/>
                </a:prstGeom>
                <a:blipFill>
                  <a:blip r:embed="rId17"/>
                  <a:stretch>
                    <a:fillRect l="-1688" t="-5600" b="-112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文本框 81">
                  <a:extLst>
                    <a:ext uri="{FF2B5EF4-FFF2-40B4-BE49-F238E27FC236}">
                      <a16:creationId xmlns:a16="http://schemas.microsoft.com/office/drawing/2014/main" id="{550860FD-79E6-F313-18E0-CEEC6B4CE201}"/>
                    </a:ext>
                  </a:extLst>
                </p:cNvPr>
                <p:cNvSpPr txBox="1"/>
                <p:nvPr/>
              </p:nvSpPr>
              <p:spPr>
                <a:xfrm>
                  <a:off x="7791043" y="10952285"/>
                  <a:ext cx="8674481" cy="261558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sz="32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(2) ADMM + </a:t>
                  </a:r>
                  <a:r>
                    <a:rPr lang="en-US" altLang="zh-CN" sz="3200" b="1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Riccati</a:t>
                  </a:r>
                  <a:r>
                    <a:rPr lang="en-US" altLang="zh-CN" sz="32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recursion</a:t>
                  </a:r>
                </a:p>
                <a:p>
                  <a:pPr marL="285750" indent="-285750">
                    <a:buFont typeface="Wingdings" pitchFamily="2" charset="2"/>
                    <a:buChar char="n"/>
                  </a:pPr>
                  <a:r>
                    <a:rPr lang="en-US" altLang="zh-CN" sz="3200" b="1" dirty="0">
                      <a:solidFill>
                        <a:schemeClr val="accent6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directly uses </a:t>
                  </a:r>
                  <a14:m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altLang="zh-CN" sz="32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3200" b="1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CN" sz="3200" b="1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𝒕</m:t>
                              </m:r>
                              <m:r>
                                <a:rPr lang="en-US" altLang="zh-CN" sz="3200" b="1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altLang="zh-CN" sz="3200" b="1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𝒌</m:t>
                              </m:r>
                            </m:sub>
                          </m:sSub>
                          <m:r>
                            <a:rPr lang="en-US" altLang="zh-CN" sz="32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3200" b="1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𝑩</m:t>
                              </m:r>
                            </m:e>
                            <m:sub>
                              <m:r>
                                <a:rPr lang="en-US" altLang="zh-CN" sz="3200" b="1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𝒕</m:t>
                              </m:r>
                              <m:r>
                                <a:rPr lang="en-US" altLang="zh-CN" sz="3200" b="1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altLang="zh-CN" sz="3200" b="1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𝒌</m:t>
                              </m:r>
                            </m:sub>
                          </m:sSub>
                          <m:r>
                            <a:rPr lang="en-US" altLang="zh-CN" sz="32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3200" b="1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3200" b="1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𝒕</m:t>
                              </m:r>
                              <m:r>
                                <a:rPr lang="en-US" altLang="zh-CN" sz="3200" b="1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altLang="zh-CN" sz="3200" b="1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𝒌</m:t>
                              </m:r>
                            </m:sub>
                          </m:sSub>
                        </m:e>
                      </m:d>
                    </m:oMath>
                  </a14:m>
                  <a:r>
                    <a:rPr lang="en-US" altLang="zh-CN" sz="3200" b="1" dirty="0">
                      <a:solidFill>
                        <a:schemeClr val="accent6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, no MPC-to-QP construction</a:t>
                  </a:r>
                </a:p>
                <a:p>
                  <a:pPr marL="285750" indent="-285750">
                    <a:buFont typeface="Wingdings" pitchFamily="2" charset="2"/>
                    <a:buChar char="n"/>
                  </a:pPr>
                  <a:r>
                    <a:rPr lang="en-US" altLang="zh-CN" sz="3200" b="1" dirty="0">
                      <a:solidFill>
                        <a:schemeClr val="accent6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zh-CN" sz="3200" b="1" dirty="0" err="1">
                      <a:solidFill>
                        <a:schemeClr val="accent6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Riccati</a:t>
                  </a:r>
                  <a:r>
                    <a:rPr lang="en-US" altLang="zh-CN" sz="3200" b="1" dirty="0">
                      <a:solidFill>
                        <a:schemeClr val="accent6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recursion is </a:t>
                  </a:r>
                  <a14:m>
                    <m:oMath xmlns:m="http://schemas.openxmlformats.org/officeDocument/2006/math">
                      <m:r>
                        <a:rPr lang="en-US" altLang="zh-CN" sz="3200" b="1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𝑶</m:t>
                      </m:r>
                      <m:d>
                        <m:dPr>
                          <m:ctrlPr>
                            <a:rPr lang="en-US" altLang="zh-CN" sz="32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32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𝑵</m:t>
                          </m:r>
                        </m:e>
                      </m:d>
                    </m:oMath>
                  </a14:m>
                  <a:r>
                    <a:rPr lang="en-US" altLang="zh-CN" sz="3200" b="1" dirty="0">
                      <a:solidFill>
                        <a:schemeClr val="accent6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, but inherently sequential and difficult to parallelize</a:t>
                  </a:r>
                </a:p>
              </p:txBody>
            </p:sp>
          </mc:Choice>
          <mc:Fallback xmlns="">
            <p:sp>
              <p:nvSpPr>
                <p:cNvPr id="82" name="文本框 81">
                  <a:extLst>
                    <a:ext uri="{FF2B5EF4-FFF2-40B4-BE49-F238E27FC236}">
                      <a16:creationId xmlns:a16="http://schemas.microsoft.com/office/drawing/2014/main" id="{550860FD-79E6-F313-18E0-CEEC6B4CE2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91043" y="10952285"/>
                  <a:ext cx="8674481" cy="2615588"/>
                </a:xfrm>
                <a:prstGeom prst="rect">
                  <a:avLst/>
                </a:prstGeom>
                <a:blipFill>
                  <a:blip r:embed="rId18"/>
                  <a:stretch>
                    <a:fillRect l="-1754" t="-2899" b="-628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7F06BE4F-8EF3-D02A-1074-AD6A91119F5E}"/>
              </a:ext>
            </a:extLst>
          </p:cNvPr>
          <p:cNvGrpSpPr/>
          <p:nvPr/>
        </p:nvGrpSpPr>
        <p:grpSpPr>
          <a:xfrm>
            <a:off x="20818698" y="7160110"/>
            <a:ext cx="7777698" cy="3401271"/>
            <a:chOff x="20520257" y="10340406"/>
            <a:chExt cx="7777698" cy="3401271"/>
          </a:xfrm>
        </p:grpSpPr>
        <p:sp>
          <p:nvSpPr>
            <p:cNvPr id="13" name="圆角矩形 12">
              <a:extLst>
                <a:ext uri="{FF2B5EF4-FFF2-40B4-BE49-F238E27FC236}">
                  <a16:creationId xmlns:a16="http://schemas.microsoft.com/office/drawing/2014/main" id="{7CABCBA1-02AD-64A1-A375-2C6C6E97C6EA}"/>
                </a:ext>
              </a:extLst>
            </p:cNvPr>
            <p:cNvSpPr/>
            <p:nvPr/>
          </p:nvSpPr>
          <p:spPr>
            <a:xfrm>
              <a:off x="20520257" y="10340406"/>
              <a:ext cx="7777698" cy="3401271"/>
            </a:xfrm>
            <a:prstGeom prst="roundRect">
              <a:avLst>
                <a:gd name="adj" fmla="val 2319"/>
              </a:avLst>
            </a:prstGeom>
            <a:solidFill>
              <a:schemeClr val="bg1"/>
            </a:solidFill>
            <a:ln w="12700">
              <a:noFill/>
            </a:ln>
            <a:effectLst>
              <a:outerShdw blurRad="204860" dir="5400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pic>
          <p:nvPicPr>
            <p:cNvPr id="85" name="图片 84">
              <a:extLst>
                <a:ext uri="{FF2B5EF4-FFF2-40B4-BE49-F238E27FC236}">
                  <a16:creationId xmlns:a16="http://schemas.microsoft.com/office/drawing/2014/main" id="{5799E34A-8571-515A-4B3E-4CB90A6D2BD5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rcRect t="2805"/>
            <a:stretch>
              <a:fillRect/>
            </a:stretch>
          </p:blipFill>
          <p:spPr>
            <a:xfrm>
              <a:off x="20572180" y="10368846"/>
              <a:ext cx="7673851" cy="3308923"/>
            </a:xfrm>
            <a:prstGeom prst="rect">
              <a:avLst/>
            </a:prstGeom>
          </p:spPr>
        </p:pic>
      </p:grpSp>
      <p:sp>
        <p:nvSpPr>
          <p:cNvPr id="40" name="Text Box 189">
            <a:extLst>
              <a:ext uri="{FF2B5EF4-FFF2-40B4-BE49-F238E27FC236}">
                <a16:creationId xmlns:a16="http://schemas.microsoft.com/office/drawing/2014/main" id="{A02D67E5-B003-50A2-E3BD-8783B83C71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369" y="6472596"/>
            <a:ext cx="6789441" cy="1331289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txBody>
          <a:bodyPr wrap="square" lIns="110567" tIns="110567" rIns="110567" bIns="110567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zh-CN" sz="3600" dirty="0">
                <a:latin typeface="Calibri" pitchFamily="34" charset="0"/>
              </a:rPr>
              <a:t>Consider a real-time iteration (RTI) based NMPC</a:t>
            </a:r>
            <a:endParaRPr lang="en-US" altLang="zh-CN" sz="3600" b="1" dirty="0">
              <a:latin typeface="Calibri" pitchFamily="34" charset="0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0D3FFD6D-9D1B-6D24-1648-ED0D060B424E}"/>
              </a:ext>
            </a:extLst>
          </p:cNvPr>
          <p:cNvSpPr txBox="1"/>
          <p:nvPr/>
        </p:nvSpPr>
        <p:spPr>
          <a:xfrm>
            <a:off x="472060" y="10889824"/>
            <a:ext cx="7239469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itchFamily="2" charset="2"/>
              <a:buChar char="n"/>
            </a:pP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long-horizon setting for good performance</a:t>
            </a:r>
          </a:p>
          <a:p>
            <a:pPr marL="457200" indent="-457200">
              <a:buFont typeface="Wingdings" pitchFamily="2" charset="2"/>
              <a:buChar char="n"/>
            </a:pP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online MPC-to-QP construction</a:t>
            </a:r>
          </a:p>
          <a:p>
            <a:pPr marL="914400" lvl="1" indent="-457200">
              <a:buFont typeface="Wingdings" pitchFamily="2" charset="2"/>
              <a:buChar char="p"/>
            </a:pP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occupies computation and complicates NMPC implementation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3" name="图片 82">
            <a:extLst>
              <a:ext uri="{FF2B5EF4-FFF2-40B4-BE49-F238E27FC236}">
                <a16:creationId xmlns:a16="http://schemas.microsoft.com/office/drawing/2014/main" id="{EB1D2FB7-ADA9-9F70-8338-BF925DA4A40E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l="1082" t="3770"/>
          <a:stretch>
            <a:fillRect/>
          </a:stretch>
        </p:blipFill>
        <p:spPr>
          <a:xfrm>
            <a:off x="635689" y="8096354"/>
            <a:ext cx="6648121" cy="2474795"/>
          </a:xfrm>
          <a:prstGeom prst="rect">
            <a:avLst/>
          </a:prstGeom>
        </p:spPr>
      </p:pic>
      <p:grpSp>
        <p:nvGrpSpPr>
          <p:cNvPr id="28" name="组合 27">
            <a:extLst>
              <a:ext uri="{FF2B5EF4-FFF2-40B4-BE49-F238E27FC236}">
                <a16:creationId xmlns:a16="http://schemas.microsoft.com/office/drawing/2014/main" id="{9927C7E2-1F55-2F2F-801E-83D09BF193DC}"/>
              </a:ext>
            </a:extLst>
          </p:cNvPr>
          <p:cNvGrpSpPr/>
          <p:nvPr/>
        </p:nvGrpSpPr>
        <p:grpSpPr>
          <a:xfrm>
            <a:off x="30483050" y="6886253"/>
            <a:ext cx="7257032" cy="6966410"/>
            <a:chOff x="30797915" y="6775267"/>
            <a:chExt cx="7257032" cy="6966410"/>
          </a:xfrm>
        </p:grpSpPr>
        <p:sp>
          <p:nvSpPr>
            <p:cNvPr id="14" name="圆角矩形 13">
              <a:extLst>
                <a:ext uri="{FF2B5EF4-FFF2-40B4-BE49-F238E27FC236}">
                  <a16:creationId xmlns:a16="http://schemas.microsoft.com/office/drawing/2014/main" id="{A085E297-9B64-429D-CFE2-4E561ED1FF54}"/>
                </a:ext>
              </a:extLst>
            </p:cNvPr>
            <p:cNvSpPr/>
            <p:nvPr/>
          </p:nvSpPr>
          <p:spPr>
            <a:xfrm>
              <a:off x="30797915" y="6775267"/>
              <a:ext cx="7257032" cy="6966410"/>
            </a:xfrm>
            <a:prstGeom prst="roundRect">
              <a:avLst>
                <a:gd name="adj" fmla="val 2319"/>
              </a:avLst>
            </a:prstGeom>
            <a:solidFill>
              <a:schemeClr val="bg1"/>
            </a:solidFill>
            <a:ln w="12700">
              <a:noFill/>
            </a:ln>
            <a:effectLst>
              <a:outerShdw blurRad="204860" dir="5400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pic>
          <p:nvPicPr>
            <p:cNvPr id="98" name="图片 97">
              <a:extLst>
                <a:ext uri="{FF2B5EF4-FFF2-40B4-BE49-F238E27FC236}">
                  <a16:creationId xmlns:a16="http://schemas.microsoft.com/office/drawing/2014/main" id="{90B2DB06-93DC-BC5E-0E67-1492E3E95B46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rcRect b="4373"/>
            <a:stretch>
              <a:fillRect/>
            </a:stretch>
          </p:blipFill>
          <p:spPr>
            <a:xfrm>
              <a:off x="30878178" y="6825927"/>
              <a:ext cx="7096506" cy="6891956"/>
            </a:xfrm>
            <a:prstGeom prst="rect">
              <a:avLst/>
            </a:prstGeom>
          </p:spPr>
        </p:pic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F6E098B1-501F-DFBA-814A-4425994F45DC}"/>
              </a:ext>
            </a:extLst>
          </p:cNvPr>
          <p:cNvGrpSpPr/>
          <p:nvPr/>
        </p:nvGrpSpPr>
        <p:grpSpPr>
          <a:xfrm>
            <a:off x="12276618" y="18601444"/>
            <a:ext cx="4143980" cy="4483780"/>
            <a:chOff x="12279263" y="19194070"/>
            <a:chExt cx="4143980" cy="4483780"/>
          </a:xfrm>
        </p:grpSpPr>
        <p:sp>
          <p:nvSpPr>
            <p:cNvPr id="12" name="圆角矩形 11">
              <a:extLst>
                <a:ext uri="{FF2B5EF4-FFF2-40B4-BE49-F238E27FC236}">
                  <a16:creationId xmlns:a16="http://schemas.microsoft.com/office/drawing/2014/main" id="{D429CECC-A573-DC82-6889-D1F063F2FF31}"/>
                </a:ext>
              </a:extLst>
            </p:cNvPr>
            <p:cNvSpPr/>
            <p:nvPr/>
          </p:nvSpPr>
          <p:spPr>
            <a:xfrm>
              <a:off x="12279263" y="19194070"/>
              <a:ext cx="4143980" cy="4483780"/>
            </a:xfrm>
            <a:prstGeom prst="roundRect">
              <a:avLst>
                <a:gd name="adj" fmla="val 2319"/>
              </a:avLst>
            </a:prstGeom>
            <a:solidFill>
              <a:schemeClr val="bg1"/>
            </a:solidFill>
            <a:ln w="12700">
              <a:noFill/>
            </a:ln>
            <a:effectLst>
              <a:outerShdw blurRad="204860" dir="5400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pic>
          <p:nvPicPr>
            <p:cNvPr id="108" name="图片 107">
              <a:extLst>
                <a:ext uri="{FF2B5EF4-FFF2-40B4-BE49-F238E27FC236}">
                  <a16:creationId xmlns:a16="http://schemas.microsoft.com/office/drawing/2014/main" id="{C2186068-F470-AFF9-78A8-7CEFB8B808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rcRect l="2259" t="1503" r="1910" b="2338"/>
            <a:stretch>
              <a:fillRect/>
            </a:stretch>
          </p:blipFill>
          <p:spPr>
            <a:xfrm>
              <a:off x="12373822" y="19379184"/>
              <a:ext cx="4011722" cy="2999094"/>
            </a:xfrm>
            <a:prstGeom prst="rect">
              <a:avLst/>
            </a:prstGeom>
          </p:spPr>
        </p:pic>
      </p:grp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D4C3E4E8-7B1E-72BA-BDDA-E500FD2928BD}"/>
              </a:ext>
            </a:extLst>
          </p:cNvPr>
          <p:cNvGrpSpPr/>
          <p:nvPr/>
        </p:nvGrpSpPr>
        <p:grpSpPr>
          <a:xfrm>
            <a:off x="920254" y="18483490"/>
            <a:ext cx="11453568" cy="12061180"/>
            <a:chOff x="920254" y="19194069"/>
            <a:chExt cx="11453568" cy="12061180"/>
          </a:xfrm>
        </p:grpSpPr>
        <p:sp>
          <p:nvSpPr>
            <p:cNvPr id="10" name="圆角矩形 9">
              <a:extLst>
                <a:ext uri="{FF2B5EF4-FFF2-40B4-BE49-F238E27FC236}">
                  <a16:creationId xmlns:a16="http://schemas.microsoft.com/office/drawing/2014/main" id="{2D2BACA6-685C-A51B-41ED-24B0997529AA}"/>
                </a:ext>
              </a:extLst>
            </p:cNvPr>
            <p:cNvSpPr/>
            <p:nvPr/>
          </p:nvSpPr>
          <p:spPr>
            <a:xfrm>
              <a:off x="920254" y="19194069"/>
              <a:ext cx="10716140" cy="12061180"/>
            </a:xfrm>
            <a:prstGeom prst="roundRect">
              <a:avLst>
                <a:gd name="adj" fmla="val 2319"/>
              </a:avLst>
            </a:prstGeom>
            <a:solidFill>
              <a:schemeClr val="bg1"/>
            </a:solidFill>
            <a:ln w="12700">
              <a:noFill/>
            </a:ln>
            <a:effectLst>
              <a:outerShdw blurRad="204860" dir="5400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F2E3A414-2363-B851-029E-D0642EAB3A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rcRect l="951" t="319" r="839" b="1209"/>
            <a:stretch>
              <a:fillRect/>
            </a:stretch>
          </p:blipFill>
          <p:spPr>
            <a:xfrm>
              <a:off x="1058327" y="19331048"/>
              <a:ext cx="10444717" cy="11838451"/>
            </a:xfrm>
            <a:prstGeom prst="rect">
              <a:avLst/>
            </a:prstGeom>
          </p:spPr>
        </p:pic>
        <p:sp>
          <p:nvSpPr>
            <p:cNvPr id="112" name="加号 111">
              <a:extLst>
                <a:ext uri="{FF2B5EF4-FFF2-40B4-BE49-F238E27FC236}">
                  <a16:creationId xmlns:a16="http://schemas.microsoft.com/office/drawing/2014/main" id="{92912658-57CB-A17B-9DAF-491CD3A4C1E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525208" y="20333292"/>
              <a:ext cx="848614" cy="848614"/>
            </a:xfrm>
            <a:prstGeom prst="mathPlus">
              <a:avLst/>
            </a:prstGeom>
            <a:solidFill>
              <a:schemeClr val="accent4">
                <a:lumMod val="60000"/>
                <a:lumOff val="40000"/>
                <a:alpha val="73428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</p:grpSp>
      <p:sp>
        <p:nvSpPr>
          <p:cNvPr id="122" name="文本框 121">
            <a:extLst>
              <a:ext uri="{FF2B5EF4-FFF2-40B4-BE49-F238E27FC236}">
                <a16:creationId xmlns:a16="http://schemas.microsoft.com/office/drawing/2014/main" id="{5C5C10F6-A9D3-5D3B-D27C-C25780F1B248}"/>
              </a:ext>
            </a:extLst>
          </p:cNvPr>
          <p:cNvSpPr txBox="1"/>
          <p:nvPr/>
        </p:nvSpPr>
        <p:spPr>
          <a:xfrm>
            <a:off x="12249254" y="21948007"/>
            <a:ext cx="471071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3200" b="1" dirty="0"/>
              <a:t>Nesterov Acceleration with Restart scheme</a:t>
            </a:r>
          </a:p>
        </p:txBody>
      </p:sp>
      <p:sp>
        <p:nvSpPr>
          <p:cNvPr id="123" name="文本框 122">
            <a:extLst>
              <a:ext uri="{FF2B5EF4-FFF2-40B4-BE49-F238E27FC236}">
                <a16:creationId xmlns:a16="http://schemas.microsoft.com/office/drawing/2014/main" id="{1C113EA8-605E-CC43-B9AF-1311075CDEB7}"/>
              </a:ext>
            </a:extLst>
          </p:cNvPr>
          <p:cNvSpPr txBox="1"/>
          <p:nvPr/>
        </p:nvSpPr>
        <p:spPr>
          <a:xfrm>
            <a:off x="16959970" y="16114144"/>
            <a:ext cx="100075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600" dirty="0"/>
              <a:t>(a) AFTI16: validating the iteration performance</a:t>
            </a:r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944D6B06-BC10-3DC7-65FA-615DBF4F6CFC}"/>
              </a:ext>
            </a:extLst>
          </p:cNvPr>
          <p:cNvSpPr txBox="1"/>
          <p:nvPr/>
        </p:nvSpPr>
        <p:spPr>
          <a:xfrm>
            <a:off x="26927052" y="16114144"/>
            <a:ext cx="111622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600" dirty="0"/>
              <a:t>(b) Centroidal-dynamics MPC: validating the scalability</a:t>
            </a:r>
          </a:p>
        </p:txBody>
      </p:sp>
      <p:sp>
        <p:nvSpPr>
          <p:cNvPr id="125" name="文本框 124">
            <a:extLst>
              <a:ext uri="{FF2B5EF4-FFF2-40B4-BE49-F238E27FC236}">
                <a16:creationId xmlns:a16="http://schemas.microsoft.com/office/drawing/2014/main" id="{3D33C846-CB83-E54F-150E-9237095CFD09}"/>
              </a:ext>
            </a:extLst>
          </p:cNvPr>
          <p:cNvSpPr txBox="1"/>
          <p:nvPr/>
        </p:nvSpPr>
        <p:spPr>
          <a:xfrm>
            <a:off x="17266024" y="24088868"/>
            <a:ext cx="211212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600" dirty="0"/>
              <a:t>(c) “</a:t>
            </a:r>
            <a:r>
              <a:rPr kumimoji="1" lang="en-US" altLang="zh-CN" sz="3600" b="1" dirty="0">
                <a:solidFill>
                  <a:schemeClr val="accent6"/>
                </a:solidFill>
              </a:rPr>
              <a:t>Accelerating and Scaling MPC-Guided Reinforcement Learning for Humanoid Locomotion and Manipulation</a:t>
            </a:r>
            <a:r>
              <a:rPr kumimoji="1" lang="en-US" altLang="zh-CN" sz="3600" dirty="0"/>
              <a:t>” (J. Li, L. Wu, S. A. Esteban, L. Yang, J. </a:t>
            </a:r>
            <a:r>
              <a:rPr kumimoji="1" lang="en-US" altLang="zh-CN" sz="3600" dirty="0" err="1"/>
              <a:t>Drgona</a:t>
            </a:r>
            <a:r>
              <a:rPr kumimoji="1" lang="en-US" altLang="zh-CN" sz="3600" dirty="0"/>
              <a:t>, and A. D. Ames) is coming soon</a:t>
            </a:r>
          </a:p>
        </p:txBody>
      </p:sp>
      <p:cxnSp>
        <p:nvCxnSpPr>
          <p:cNvPr id="1029" name="直线连接符 1028">
            <a:extLst>
              <a:ext uri="{FF2B5EF4-FFF2-40B4-BE49-F238E27FC236}">
                <a16:creationId xmlns:a16="http://schemas.microsoft.com/office/drawing/2014/main" id="{5A421F65-4B06-0195-C4E8-13883DCEFDA1}"/>
              </a:ext>
            </a:extLst>
          </p:cNvPr>
          <p:cNvCxnSpPr>
            <a:cxnSpLocks/>
          </p:cNvCxnSpPr>
          <p:nvPr/>
        </p:nvCxnSpPr>
        <p:spPr>
          <a:xfrm>
            <a:off x="17215611" y="24014168"/>
            <a:ext cx="20815519" cy="0"/>
          </a:xfrm>
          <a:prstGeom prst="line">
            <a:avLst/>
          </a:prstGeom>
          <a:ln w="38100">
            <a:solidFill>
              <a:srgbClr val="C00000">
                <a:alpha val="75070"/>
              </a:srgb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MPC-RL loco-manipulation hardware (200kg)">
            <a:hlinkClick r:id="" action="ppaction://media"/>
            <a:extLst>
              <a:ext uri="{FF2B5EF4-FFF2-40B4-BE49-F238E27FC236}">
                <a16:creationId xmlns:a16="http://schemas.microsoft.com/office/drawing/2014/main" id="{EE96EB11-0C1C-22D1-ECC2-BC425A20B2DE}"/>
              </a:ext>
            </a:extLst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24"/>
          <a:stretch>
            <a:fillRect/>
          </a:stretch>
        </p:blipFill>
        <p:spPr>
          <a:xfrm>
            <a:off x="17262562" y="26278296"/>
            <a:ext cx="10086138" cy="5673453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DB8042AB-4EB1-F678-C9F3-91871FE04997}"/>
              </a:ext>
            </a:extLst>
          </p:cNvPr>
          <p:cNvPicPr>
            <a:picLocks noChangeAspect="1"/>
          </p:cNvPicPr>
          <p:nvPr/>
        </p:nvPicPr>
        <p:blipFill>
          <a:blip r:embed="rId25"/>
          <a:srcRect l="5147" t="46527" r="17782" b="11840"/>
          <a:stretch>
            <a:fillRect/>
          </a:stretch>
        </p:blipFill>
        <p:spPr>
          <a:xfrm>
            <a:off x="2897961" y="16336828"/>
            <a:ext cx="4712562" cy="1722842"/>
          </a:xfrm>
          <a:prstGeom prst="rect">
            <a:avLst/>
          </a:prstGeom>
        </p:spPr>
      </p:pic>
      <p:pic>
        <p:nvPicPr>
          <p:cNvPr id="21" name="图片 20" descr="Download Julia Logo in SVG Vector or PNG File Format - Logo.wine">
            <a:extLst>
              <a:ext uri="{FF2B5EF4-FFF2-40B4-BE49-F238E27FC236}">
                <a16:creationId xmlns:a16="http://schemas.microsoft.com/office/drawing/2014/main" id="{296E86D6-F0CC-F0B0-C893-A84985D48CD1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0" y="15844252"/>
            <a:ext cx="3355167" cy="2236778"/>
          </a:xfrm>
          <a:prstGeom prst="rect">
            <a:avLst/>
          </a:prstGeom>
        </p:spPr>
      </p:pic>
      <p:pic>
        <p:nvPicPr>
          <p:cNvPr id="22" name="Picture 22" descr="PyTorch v1.0 release: Tensors and Dynamic neural networks in Python">
            <a:extLst>
              <a:ext uri="{FF2B5EF4-FFF2-40B4-BE49-F238E27FC236}">
                <a16:creationId xmlns:a16="http://schemas.microsoft.com/office/drawing/2014/main" id="{4C0CD8C3-F780-0B1B-2E8B-E1BBB27918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974" y="16968726"/>
            <a:ext cx="3933285" cy="786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80D58484-5691-874A-45B2-EC0F1065E9AE}"/>
              </a:ext>
            </a:extLst>
          </p:cNvPr>
          <p:cNvPicPr>
            <a:picLocks noChangeAspect="1"/>
          </p:cNvPicPr>
          <p:nvPr/>
        </p:nvPicPr>
        <p:blipFill>
          <a:blip r:embed="rId28"/>
          <a:srcRect l="5478" t="6200" r="4395" b="6353"/>
          <a:stretch>
            <a:fillRect/>
          </a:stretch>
        </p:blipFill>
        <p:spPr>
          <a:xfrm>
            <a:off x="31622358" y="59267"/>
            <a:ext cx="4298887" cy="4171075"/>
          </a:xfrm>
          <a:prstGeom prst="rect">
            <a:avLst/>
          </a:prstGeom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200DDE32-3A5F-46DC-AF1E-5E16421DEE78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5790874" y="1728442"/>
            <a:ext cx="5842000" cy="2501900"/>
          </a:xfrm>
          <a:prstGeom prst="rect">
            <a:avLst/>
          </a:prstGeom>
        </p:spPr>
      </p:pic>
      <p:pic>
        <p:nvPicPr>
          <p:cNvPr id="42" name="图片 41">
            <a:extLst>
              <a:ext uri="{FF2B5EF4-FFF2-40B4-BE49-F238E27FC236}">
                <a16:creationId xmlns:a16="http://schemas.microsoft.com/office/drawing/2014/main" id="{E5C0A56F-15E4-DCAD-FDB1-72EE51B07889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1082958" y="1690069"/>
            <a:ext cx="2501901" cy="2501901"/>
          </a:xfrm>
          <a:prstGeom prst="rect">
            <a:avLst/>
          </a:prstGeom>
        </p:spPr>
      </p:pic>
      <p:pic>
        <p:nvPicPr>
          <p:cNvPr id="43" name="777452bf2b7ceaf621421b07d05108f1">
            <a:hlinkClick r:id="" action="ppaction://media"/>
            <a:extLst>
              <a:ext uri="{FF2B5EF4-FFF2-40B4-BE49-F238E27FC236}">
                <a16:creationId xmlns:a16="http://schemas.microsoft.com/office/drawing/2014/main" id="{3D9FF9F8-135D-4A03-5636-B88BE2B67873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>
                  <p14:trim end="2941.9287"/>
                </p14:media>
              </p:ext>
            </p:extLst>
          </p:nvPr>
        </p:nvPicPr>
        <p:blipFill>
          <a:blip r:embed="rId31"/>
          <a:stretch>
            <a:fillRect/>
          </a:stretch>
        </p:blipFill>
        <p:spPr>
          <a:xfrm>
            <a:off x="27916356" y="26290571"/>
            <a:ext cx="9988071" cy="561829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D4F60E05-EB36-1CB3-C842-6CF86C6A77B9}"/>
                  </a:ext>
                </a:extLst>
              </p:cNvPr>
              <p:cNvSpPr txBox="1"/>
              <p:nvPr/>
            </p:nvSpPr>
            <p:spPr>
              <a:xfrm>
                <a:off x="16837499" y="11038923"/>
                <a:ext cx="14545835" cy="26307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571500" indent="-571500">
                  <a:buFont typeface="Wingdings" pitchFamily="2" charset="2"/>
                  <a:buChar char="n"/>
                </a:pPr>
                <a:r>
                  <a:rPr lang="en-US" altLang="zh-CN" sz="4000" b="1" dirty="0">
                    <a:solidFill>
                      <a:schemeClr val="accent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directly uses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sz="4000" b="1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4000" b="1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4000" b="1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𝑨</m:t>
                            </m:r>
                          </m:e>
                          <m:sub>
                            <m:r>
                              <a:rPr lang="en-US" altLang="zh-CN" sz="4000" b="1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𝒕</m:t>
                            </m:r>
                            <m:r>
                              <a:rPr lang="en-US" altLang="zh-CN" sz="4000" b="1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US" altLang="zh-CN" sz="4000" b="1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𝒌</m:t>
                            </m:r>
                          </m:sub>
                        </m:sSub>
                        <m:r>
                          <a:rPr lang="en-US" altLang="zh-CN" sz="4000" b="1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4000" b="1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4000" b="1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𝑩</m:t>
                            </m:r>
                          </m:e>
                          <m:sub>
                            <m:r>
                              <a:rPr lang="en-US" altLang="zh-CN" sz="4000" b="1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𝒕</m:t>
                            </m:r>
                            <m:r>
                              <a:rPr lang="en-US" altLang="zh-CN" sz="4000" b="1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US" altLang="zh-CN" sz="4000" b="1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𝒌</m:t>
                            </m:r>
                          </m:sub>
                        </m:sSub>
                        <m:r>
                          <a:rPr lang="en-US" altLang="zh-CN" sz="4000" b="1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4000" b="1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4000" b="1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𝒆</m:t>
                            </m:r>
                          </m:e>
                          <m:sub>
                            <m:r>
                              <a:rPr lang="en-US" altLang="zh-CN" sz="4000" b="1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𝒕</m:t>
                            </m:r>
                            <m:r>
                              <a:rPr lang="en-US" altLang="zh-CN" sz="4000" b="1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US" altLang="zh-CN" sz="4000" b="1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𝒌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sz="4000" b="1" dirty="0">
                    <a:solidFill>
                      <a:schemeClr val="accent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being construction-free</a:t>
                </a:r>
              </a:p>
              <a:p>
                <a:pPr marL="285750" indent="-285750">
                  <a:buFont typeface="Wingdings" pitchFamily="2" charset="2"/>
                  <a:buChar char="n"/>
                </a:pPr>
                <a:r>
                  <a:rPr lang="en-US" altLang="zh-CN" sz="4000" b="1" dirty="0">
                    <a:solidFill>
                      <a:schemeClr val="accent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computation is parallel-in-horizon</a:t>
                </a:r>
              </a:p>
              <a:p>
                <a:pPr marL="285750" indent="-285750">
                  <a:buFont typeface="Wingdings" pitchFamily="2" charset="2"/>
                  <a:buChar char="n"/>
                </a:pPr>
                <a:r>
                  <a:rPr lang="en-US" altLang="zh-CN" sz="4000" b="1" dirty="0">
                    <a:solidFill>
                      <a:schemeClr val="accent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requires smaller-matrix inverse cache, independent from </a:t>
                </a:r>
                <a14:m>
                  <m:oMath xmlns:m="http://schemas.openxmlformats.org/officeDocument/2006/math">
                    <m:r>
                      <a:rPr lang="en-US" altLang="zh-CN" sz="4000" b="1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𝑵</m:t>
                    </m:r>
                  </m:oMath>
                </a14:m>
                <a:endParaRPr lang="en-US" altLang="zh-CN" sz="4000" b="1" dirty="0">
                  <a:solidFill>
                    <a:schemeClr val="accent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Wingdings" pitchFamily="2" charset="2"/>
                  <a:buChar char="n"/>
                </a:pPr>
                <a:r>
                  <a:rPr lang="en-US" altLang="zh-CN" sz="4000" b="1" dirty="0">
                    <a:solidFill>
                      <a:schemeClr val="accent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allows GPU-acceleration</a:t>
                </a: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D4F60E05-EB36-1CB3-C842-6CF86C6A77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37499" y="11038923"/>
                <a:ext cx="14545835" cy="2630785"/>
              </a:xfrm>
              <a:prstGeom prst="rect">
                <a:avLst/>
              </a:prstGeom>
              <a:blipFill>
                <a:blip r:embed="rId34"/>
                <a:stretch>
                  <a:fillRect l="-1308" t="-3365" b="-86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文本框 26">
            <a:extLst>
              <a:ext uri="{FF2B5EF4-FFF2-40B4-BE49-F238E27FC236}">
                <a16:creationId xmlns:a16="http://schemas.microsoft.com/office/drawing/2014/main" id="{F3E567AD-27E9-8F66-659C-B4A2AB8F94A9}"/>
              </a:ext>
            </a:extLst>
          </p:cNvPr>
          <p:cNvSpPr txBox="1"/>
          <p:nvPr/>
        </p:nvSpPr>
        <p:spPr>
          <a:xfrm>
            <a:off x="17076523" y="6304076"/>
            <a:ext cx="170664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MPC</a:t>
            </a:r>
            <a:r>
              <a:rPr lang="en-US" altLang="zh-C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 new variable splitting scheme in ADMM + velocity formulation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03A457B-7BCC-0425-F4F1-D49F7D807261}"/>
              </a:ext>
            </a:extLst>
          </p:cNvPr>
          <p:cNvSpPr/>
          <p:nvPr/>
        </p:nvSpPr>
        <p:spPr>
          <a:xfrm>
            <a:off x="22080595" y="8429087"/>
            <a:ext cx="2566272" cy="474488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3AB9204-EDBD-FD35-B1FB-35F6F67FFDEC}"/>
              </a:ext>
            </a:extLst>
          </p:cNvPr>
          <p:cNvSpPr/>
          <p:nvPr/>
        </p:nvSpPr>
        <p:spPr>
          <a:xfrm>
            <a:off x="22080595" y="8988792"/>
            <a:ext cx="2566272" cy="474488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815E20DA-AD8B-04BF-B33A-4A60B6B5C714}"/>
                  </a:ext>
                </a:extLst>
              </p:cNvPr>
              <p:cNvSpPr txBox="1"/>
              <p:nvPr/>
            </p:nvSpPr>
            <p:spPr>
              <a:xfrm>
                <a:off x="17676868" y="25385816"/>
                <a:ext cx="2029952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3600" b="1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𝝅</m:t>
                    </m:r>
                  </m:oMath>
                </a14:m>
                <a:r>
                  <a:rPr lang="en-US" altLang="zh-CN" sz="3600" b="1" dirty="0">
                    <a:solidFill>
                      <a:schemeClr val="accent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MPC supports batch scenarios and is thus applied to massive parallel MPC-RL training pipelines</a:t>
                </a:r>
                <a:endParaRPr lang="en-US" altLang="zh-CN" sz="3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815E20DA-AD8B-04BF-B33A-4A60B6B5C7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76868" y="25385816"/>
                <a:ext cx="20299520" cy="646331"/>
              </a:xfrm>
              <a:prstGeom prst="rect">
                <a:avLst/>
              </a:prstGeom>
              <a:blipFill>
                <a:blip r:embed="rId35"/>
                <a:stretch>
                  <a:fillRect l="-125" t="-13462" b="-346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4014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00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27024" fill="hold"/>
                                        <p:tgtEl>
                                          <p:spTgt spid="4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9" repeatCount="indefinite" fill="remove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4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video>
              <p:cMediaNode vol="80000">
                <p:cTn id="15" repeatCount="indefinite" fill="remove" display="0">
                  <p:stCondLst>
                    <p:cond delay="indefinite"/>
                  </p:stCondLst>
                </p:cTn>
                <p:tgtEl>
                  <p:spTgt spid="43"/>
                </p:tgtEl>
              </p:cMediaNode>
            </p:video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0" dur="1" fill="hold"/>
                                        <p:tgtEl>
                                          <p:spTgt spid="4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3"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kumimoji="1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2567</TotalTime>
  <Words>617</Words>
  <Application>Microsoft Macintosh PowerPoint</Application>
  <PresentationFormat>自定义</PresentationFormat>
  <Paragraphs>47</Paragraphs>
  <Slides>1</Slides>
  <Notes>1</Notes>
  <HiddenSlides>0</HiddenSlides>
  <MMClips>2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等线</vt:lpstr>
      <vt:lpstr>Aptos</vt:lpstr>
      <vt:lpstr>Aptos Display</vt:lpstr>
      <vt:lpstr>Arial</vt:lpstr>
      <vt:lpstr>Calibri</vt:lpstr>
      <vt:lpstr>Cambria Math</vt:lpstr>
      <vt:lpstr>Times New Roman</vt:lpstr>
      <vt:lpstr>Wingdings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Liang Wu</dc:creator>
  <cp:lastModifiedBy>Liang Wu</cp:lastModifiedBy>
  <cp:revision>118</cp:revision>
  <dcterms:created xsi:type="dcterms:W3CDTF">2024-02-16T21:07:59Z</dcterms:created>
  <dcterms:modified xsi:type="dcterms:W3CDTF">2026-05-26T12:53:22Z</dcterms:modified>
</cp:coreProperties>
</file>