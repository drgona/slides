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sldIdLst>
    <p:sldId id="258" r:id="rId5"/>
  </p:sldIdLst>
  <p:sldSz cx="43891200" cy="32918400"/>
  <p:notesSz cx="6858000" cy="9144000"/>
  <p:defaultTextStyle>
    <a:defPPr>
      <a:defRPr lang="en-US"/>
    </a:defPPr>
    <a:lvl1pPr marL="0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1pPr>
    <a:lvl2pPr marL="520019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2pPr>
    <a:lvl3pPr marL="1040039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3pPr>
    <a:lvl4pPr marL="1560058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4pPr>
    <a:lvl5pPr marL="2080077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5pPr>
    <a:lvl6pPr marL="2600096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6pPr>
    <a:lvl7pPr marL="3120116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7pPr>
    <a:lvl8pPr marL="3640135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8pPr>
    <a:lvl9pPr marL="4160154" algn="l" defTabSz="520019" rtl="0" eaLnBrk="1" latinLnBrk="0" hangingPunct="1">
      <a:defRPr sz="20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9192" userDrawn="1">
          <p15:clr>
            <a:srgbClr val="A4A3A4"/>
          </p15:clr>
        </p15:guide>
        <p15:guide id="3" pos="18432" userDrawn="1">
          <p15:clr>
            <a:srgbClr val="A4A3A4"/>
          </p15:clr>
        </p15:guide>
        <p15:guide id="4" orient="horz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E5C"/>
    <a:srgbClr val="002D72"/>
    <a:srgbClr val="67A5CE"/>
    <a:srgbClr val="A45C98"/>
    <a:srgbClr val="008767"/>
    <a:srgbClr val="68ACE5"/>
    <a:srgbClr val="287C78"/>
    <a:srgbClr val="009B9B"/>
    <a:srgbClr val="5C3983"/>
    <a:srgbClr val="BF3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13" autoAdjust="0"/>
    <p:restoredTop sz="94660"/>
  </p:normalViewPr>
  <p:slideViewPr>
    <p:cSldViewPr snapToGrid="0">
      <p:cViewPr varScale="1">
        <p:scale>
          <a:sx n="23" d="100"/>
          <a:sy n="23" d="100"/>
        </p:scale>
        <p:origin x="1364" y="68"/>
      </p:cViewPr>
      <p:guideLst>
        <p:guide pos="9192"/>
        <p:guide pos="18432"/>
        <p:guide orient="horz" pos="1036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906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" y="0"/>
            <a:ext cx="43891200" cy="61081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FC78FE-580D-9E3B-EE0D-6719719F56C6}"/>
              </a:ext>
            </a:extLst>
          </p:cNvPr>
          <p:cNvSpPr/>
          <p:nvPr userDrawn="1"/>
        </p:nvSpPr>
        <p:spPr>
          <a:xfrm>
            <a:off x="0" y="0"/>
            <a:ext cx="43891200" cy="6108197"/>
          </a:xfrm>
          <a:prstGeom prst="rect">
            <a:avLst/>
          </a:prstGeom>
          <a:solidFill>
            <a:srgbClr val="132E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7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BE370-23BA-0307-3BCE-2E646DAE45C7}"/>
              </a:ext>
            </a:extLst>
          </p:cNvPr>
          <p:cNvSpPr/>
          <p:nvPr userDrawn="1"/>
        </p:nvSpPr>
        <p:spPr>
          <a:xfrm>
            <a:off x="-179" y="31832550"/>
            <a:ext cx="43891200" cy="1085850"/>
          </a:xfrm>
          <a:prstGeom prst="rect">
            <a:avLst/>
          </a:prstGeom>
          <a:solidFill>
            <a:srgbClr val="132E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79"/>
          </a:p>
        </p:txBody>
      </p:sp>
      <p:pic>
        <p:nvPicPr>
          <p:cNvPr id="12" name="Picture 11" descr="A black and white background with black squares&#10;&#10;AI-generated content may be incorrect.">
            <a:extLst>
              <a:ext uri="{FF2B5EF4-FFF2-40B4-BE49-F238E27FC236}">
                <a16:creationId xmlns:a16="http://schemas.microsoft.com/office/drawing/2014/main" id="{8CA13796-739E-91C5-7B92-45BA245EC9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3" b="32317"/>
          <a:stretch>
            <a:fillRect/>
          </a:stretch>
        </p:blipFill>
        <p:spPr>
          <a:xfrm>
            <a:off x="-359" y="31832548"/>
            <a:ext cx="18468452" cy="1085852"/>
          </a:xfrm>
          <a:prstGeom prst="rect">
            <a:avLst/>
          </a:prstGeom>
        </p:spPr>
      </p:pic>
      <p:pic>
        <p:nvPicPr>
          <p:cNvPr id="13" name="Picture 12" descr="A black and white background with black squares&#10;&#10;AI-generated content may be incorrect.">
            <a:extLst>
              <a:ext uri="{FF2B5EF4-FFF2-40B4-BE49-F238E27FC236}">
                <a16:creationId xmlns:a16="http://schemas.microsoft.com/office/drawing/2014/main" id="{D0F21B61-0EB9-DF82-AECE-DE9958F76C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3" b="32317"/>
          <a:stretch>
            <a:fillRect/>
          </a:stretch>
        </p:blipFill>
        <p:spPr>
          <a:xfrm>
            <a:off x="18468453" y="31832548"/>
            <a:ext cx="18468452" cy="1085852"/>
          </a:xfrm>
          <a:prstGeom prst="rect">
            <a:avLst/>
          </a:prstGeom>
        </p:spPr>
      </p:pic>
      <p:pic>
        <p:nvPicPr>
          <p:cNvPr id="14" name="Picture 13" descr="A black and white background with black squares&#10;&#10;AI-generated content may be incorrect.">
            <a:extLst>
              <a:ext uri="{FF2B5EF4-FFF2-40B4-BE49-F238E27FC236}">
                <a16:creationId xmlns:a16="http://schemas.microsoft.com/office/drawing/2014/main" id="{BB853089-9D74-4DB7-4F3E-613F66B907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3" r="62345" b="32317"/>
          <a:stretch>
            <a:fillRect/>
          </a:stretch>
        </p:blipFill>
        <p:spPr>
          <a:xfrm>
            <a:off x="36936906" y="31832548"/>
            <a:ext cx="6954295" cy="108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329170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25" indent="-822925" algn="l" defTabSz="329170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774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624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474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323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173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022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3872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89721" indent="-822925" algn="l" defTabSz="3291700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849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700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549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398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247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098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0947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6796" algn="l" defTabSz="329170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10.png"/><Relationship Id="rId2" Type="http://schemas.openxmlformats.org/officeDocument/2006/relationships/image" Target="../media/image3.png"/><Relationship Id="rId16" Type="http://schemas.openxmlformats.org/officeDocument/2006/relationships/image" Target="../media/image9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70.png"/><Relationship Id="rId5" Type="http://schemas.openxmlformats.org/officeDocument/2006/relationships/image" Target="../media/image17.png"/><Relationship Id="rId15" Type="http://schemas.openxmlformats.org/officeDocument/2006/relationships/image" Target="../media/image8.png"/><Relationship Id="rId19" Type="http://schemas.openxmlformats.org/officeDocument/2006/relationships/image" Target="../media/image12.png"/><Relationship Id="rId4" Type="http://schemas.openxmlformats.org/officeDocument/2006/relationships/image" Target="../media/image5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43B7-D59C-1577-4F9E-A8635DB8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3AE23D-30C1-82CB-2535-2B3E5F203460}"/>
              </a:ext>
            </a:extLst>
          </p:cNvPr>
          <p:cNvSpPr/>
          <p:nvPr/>
        </p:nvSpPr>
        <p:spPr>
          <a:xfrm>
            <a:off x="38562744" y="0"/>
            <a:ext cx="5328456" cy="6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B93E4-799C-7F27-8E7D-52D1C2628314}"/>
              </a:ext>
            </a:extLst>
          </p:cNvPr>
          <p:cNvSpPr/>
          <p:nvPr/>
        </p:nvSpPr>
        <p:spPr>
          <a:xfrm>
            <a:off x="0" y="0"/>
            <a:ext cx="7366000" cy="6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Box 2">
            <a:extLst>
              <a:ext uri="{FF2B5EF4-FFF2-40B4-BE49-F238E27FC236}">
                <a16:creationId xmlns:a16="http://schemas.microsoft.com/office/drawing/2014/main" id="{200C16ED-5438-3FA2-4EE5-FD5CC2351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6884" y="572203"/>
            <a:ext cx="30795860" cy="2468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8500" b="1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CINOC: Cardinality-Invariant Neural Operator Policies for Scalable PDE Control</a:t>
            </a:r>
            <a:endParaRPr lang="en-AU" sz="8500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4D97E4-CB47-257F-D9D5-C9BE5795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09" y="7399128"/>
            <a:ext cx="13893419" cy="13421656"/>
          </a:xfrm>
          <a:prstGeom prst="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r>
              <a:rPr lang="en-US" sz="32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 Challenge</a:t>
            </a:r>
            <a:r>
              <a:rPr lang="en-US" sz="320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: Controlling partial differential equations (PDEs) is critical, but existing learning-based multi-agent policies generally rely on fixed-dimensional representations.</a:t>
            </a:r>
          </a:p>
          <a:p>
            <a:pPr defTabSz="829082" eaLnBrk="0" hangingPunct="0">
              <a:spcBef>
                <a:spcPct val="50000"/>
              </a:spcBef>
            </a:pPr>
            <a:r>
              <a:rPr lang="en-US" sz="32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Our Solution</a:t>
            </a:r>
            <a:r>
              <a:rPr lang="en-US" sz="320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: We recast PDE policy synthesis as an operator learning problem, mapping state fields to continuous control functions.</a:t>
            </a:r>
          </a:p>
          <a:p>
            <a:pPr defTabSz="829082" eaLnBrk="0" hangingPunct="0">
              <a:spcBef>
                <a:spcPct val="50000"/>
              </a:spcBef>
            </a:pPr>
            <a:r>
              <a:rPr lang="en-US" sz="32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The Result</a:t>
            </a:r>
            <a:r>
              <a:rPr lang="en-US" sz="320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: End-to-end training via differentiable physics yields policies with cardinality invariance, allowing zero-shot transfer to significantly larger agent populations.</a:t>
            </a: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156FED4B-EB3F-45C8-EDF8-E525A2A0B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4585" y="3785636"/>
            <a:ext cx="28143200" cy="206621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AU" sz="4800" b="1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Pietro Zanotta, Dibakar Roy Sarkar, Honghui Zheng, Somdatta Goswami, Ján </a:t>
            </a:r>
            <a:r>
              <a:rPr lang="en-AU" sz="4800" b="1" dirty="0" err="1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Drgoňa</a:t>
            </a:r>
            <a:endParaRPr lang="en-AU" sz="4800" b="1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en-AU" sz="4000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Civil and System Engineering, Johns Hopkins University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EC073A1-8FF2-5CCB-51FC-57CCB1D3F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434" y="31875642"/>
            <a:ext cx="3209594" cy="1019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AU" sz="3200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Read the paper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E2806B1-6057-D4AE-E648-47BBCF4E6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218" y="-172633"/>
            <a:ext cx="7750436" cy="3516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10A75-ABEA-6F55-E514-055E449D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873" y="2897818"/>
            <a:ext cx="4782986" cy="218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20ADA6-1DB9-B5E8-146B-7726A2B6C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08" y="6514616"/>
            <a:ext cx="13893419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BBDEA-57DD-00C9-0704-BB156782C8AA}"/>
              </a:ext>
            </a:extLst>
          </p:cNvPr>
          <p:cNvSpPr txBox="1"/>
          <p:nvPr/>
        </p:nvSpPr>
        <p:spPr>
          <a:xfrm>
            <a:off x="585918" y="6553433"/>
            <a:ext cx="657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16B0C-B3A7-87A8-CB4F-829F30542CF4}"/>
              </a:ext>
            </a:extLst>
          </p:cNvPr>
          <p:cNvSpPr txBox="1"/>
          <p:nvPr/>
        </p:nvSpPr>
        <p:spPr>
          <a:xfrm>
            <a:off x="1000097" y="19487990"/>
            <a:ext cx="12944503" cy="103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Georgia" panose="02040502050405020303" pitchFamily="18" charset="0"/>
              </a:rPr>
              <a:t>Figure 1: A shared neural operator maps PDE field observations to control actions for multiple agents, enabling zero-shot scalability across agent populations. Framework handles diverse tasks: (top right) chaos stabilization, (middle right) reference tracking, and (bottom right) density transport.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ED88A-D126-7080-CDE3-7B4D26E20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410" y="475692"/>
            <a:ext cx="4533350" cy="146600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A66D1F0-B50B-7978-FC77-5684731C7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09" y="22111930"/>
            <a:ext cx="13893419" cy="9354905"/>
          </a:xfrm>
          <a:prstGeom prst="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28573">
              <a:spcBef>
                <a:spcPts val="12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r>
              <a:rPr lang="en-US" sz="3200" b="1" dirty="0">
                <a:latin typeface="Georgia" panose="02040502050405020303" pitchFamily="18" charset="0"/>
              </a:rPr>
              <a:t>Neural Operator Framework: </a:t>
            </a:r>
            <a:r>
              <a:rPr lang="en-US" sz="3200" dirty="0">
                <a:latin typeface="Georgia" panose="02040502050405020303" pitchFamily="18" charset="0"/>
              </a:rPr>
              <a:t>Control policies parameterized as neural operators yield configuration-invariant behavior across variable sensing/actuation/population setups. </a:t>
            </a:r>
          </a:p>
          <a:p>
            <a:pPr marL="457200" indent="-457200" defTabSz="928573">
              <a:spcBef>
                <a:spcPts val="12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r>
              <a:rPr lang="en-US" sz="3200" b="1" dirty="0">
                <a:latin typeface="Georgia" panose="02040502050405020303" pitchFamily="18" charset="0"/>
              </a:rPr>
              <a:t>Differentiable-Physics Optimization:</a:t>
            </a:r>
            <a:r>
              <a:rPr lang="en-US" sz="3200" dirty="0">
                <a:latin typeface="Georgia" panose="02040502050405020303" pitchFamily="18" charset="0"/>
              </a:rPr>
              <a:t> Policies trained end-to-end by differentiating through PDE solvers, providing scalable and efficient policy gradients. </a:t>
            </a:r>
          </a:p>
          <a:p>
            <a:pPr marL="457200" indent="-457200" defTabSz="928573">
              <a:spcBef>
                <a:spcPts val="12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r>
              <a:rPr lang="en-US" sz="3200" b="1" dirty="0">
                <a:latin typeface="Georgia" panose="02040502050405020303" pitchFamily="18" charset="0"/>
              </a:rPr>
              <a:t>Cardinality-Invariant Multi-Agent Control:</a:t>
            </a:r>
            <a:r>
              <a:rPr lang="en-US" sz="3200" dirty="0">
                <a:latin typeface="Georgia" panose="02040502050405020303" pitchFamily="18" charset="0"/>
              </a:rPr>
              <a:t> An emergent self-normalization phenomenon enables consistent multi-agent behavior independent of agent count. </a:t>
            </a:r>
          </a:p>
          <a:p>
            <a:pPr marL="457200" indent="-457200" defTabSz="928573">
              <a:spcBef>
                <a:spcPts val="12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r>
              <a:rPr lang="en-US" sz="3200" b="1" dirty="0">
                <a:latin typeface="Georgia" panose="02040502050405020303" pitchFamily="18" charset="0"/>
              </a:rPr>
              <a:t>Mean-Field Grounding: </a:t>
            </a:r>
            <a:r>
              <a:rPr lang="en-US" sz="3200" dirty="0">
                <a:latin typeface="Georgia" panose="02040502050405020303" pitchFamily="18" charset="0"/>
              </a:rPr>
              <a:t>Finite-population policy gradient learning is formally linked to a mean-field limit, theoretically establishing cardinality invariance.</a:t>
            </a:r>
          </a:p>
          <a:p>
            <a:pPr marL="457200" indent="-457200" defTabSz="928573">
              <a:spcBef>
                <a:spcPts val="12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r>
              <a:rPr lang="en-US" sz="3200" dirty="0">
                <a:latin typeface="Georgia" panose="02040502050405020303" pitchFamily="18" charset="0"/>
              </a:rPr>
              <a:t> </a:t>
            </a:r>
            <a:r>
              <a:rPr lang="en-US" sz="3200" b="1" dirty="0">
                <a:latin typeface="Georgia" panose="02040502050405020303" pitchFamily="18" charset="0"/>
              </a:rPr>
              <a:t>Diverse PDE Benchmarks: </a:t>
            </a:r>
            <a:r>
              <a:rPr lang="en-US" sz="3200" dirty="0">
                <a:latin typeface="Georgia" panose="02040502050405020303" pitchFamily="18" charset="0"/>
              </a:rPr>
              <a:t>Demonstrated across stabilization, tracking, and density transport on nonlinear, diffusion, and chaotic spatiotemporal dynamics.</a:t>
            </a: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3E54C1-EA6A-1173-EADA-F187306FD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08" y="21188600"/>
            <a:ext cx="13893419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599289-97BF-42BE-84C0-5F8778D0EAA3}"/>
              </a:ext>
            </a:extLst>
          </p:cNvPr>
          <p:cNvSpPr txBox="1"/>
          <p:nvPr/>
        </p:nvSpPr>
        <p:spPr>
          <a:xfrm>
            <a:off x="585918" y="21227417"/>
            <a:ext cx="657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Contributions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5A852F-6051-367E-3E6F-3E43AAFF8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8541" y="7463345"/>
            <a:ext cx="14060598" cy="17929031"/>
          </a:xfrm>
          <a:prstGeom prst="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651808-B3AE-E7E8-ACCE-998B460D8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8540" y="6553433"/>
            <a:ext cx="14060598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144368-B105-F23A-3400-AEF6BCE55B7E}"/>
              </a:ext>
            </a:extLst>
          </p:cNvPr>
          <p:cNvSpPr txBox="1"/>
          <p:nvPr/>
        </p:nvSpPr>
        <p:spPr>
          <a:xfrm>
            <a:off x="14917568" y="6617636"/>
            <a:ext cx="14534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Problem formulation and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4160697-2A13-EAA1-DCA6-E58FC1798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7472" y="26595282"/>
                <a:ext cx="13893419" cy="489276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2060"/>
                </a:solidFill>
              </a:ln>
              <a:effectLst/>
            </p:spPr>
            <p:txBody>
              <a:bodyPr lIns="327014" tIns="327014" rIns="327014" bIns="327014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defTabSz="928573">
                  <a:spcBef>
                    <a:spcPts val="1200"/>
                  </a:spcBef>
                  <a:spcAft>
                    <a:spcPts val="609"/>
                  </a:spcAft>
                  <a:buClr>
                    <a:srgbClr val="002060"/>
                  </a:buClr>
                  <a:buFont typeface="Wingdings" pitchFamily="2" charset="2"/>
                  <a:buChar char="§"/>
                </a:pPr>
                <a:r>
                  <a:rPr lang="en-CA" sz="3200" b="1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Mean-Field Gradient Consistency : </a:t>
                </a:r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CA" sz="32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𝑀</m:t>
                    </m:r>
                    <m:r>
                      <a:rPr lang="en-CA" sz="32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→∞</m:t>
                    </m:r>
                  </m:oMath>
                </a14:m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, discrete policy gradients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3200" i="0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∇</m:t>
                        </m:r>
                      </m:e>
                      <m:sub>
                        <m:r>
                          <a:rPr lang="en-CA" sz="3200" i="1" dirty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CA" sz="3200" i="1" dirty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CA" sz="3200" i="1" dirty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𝒥</m:t>
                        </m:r>
                      </m:e>
                      <m:sub>
                        <m:r>
                          <a:rPr lang="en-CA" sz="3200" i="1" dirty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converge to the continuous mean-field limit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𝒟</m:t>
                        </m:r>
                      </m:e>
                      <m:sub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𝒥</m:t>
                        </m:r>
                      </m:e>
                      <m:sub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CA" sz="3200" dirty="0" err="1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Thm</a:t>
                </a:r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. 1), guaranteeing the learned operator captures true PDE dynamics rather than swarm-size artifacts.</a:t>
                </a:r>
              </a:p>
              <a:p>
                <a:pPr marL="457200" indent="-457200" defTabSz="928573">
                  <a:spcBef>
                    <a:spcPts val="1200"/>
                  </a:spcBef>
                  <a:spcAft>
                    <a:spcPts val="609"/>
                  </a:spcAft>
                  <a:buClr>
                    <a:srgbClr val="002060"/>
                  </a:buClr>
                  <a:buFont typeface="Wingdings" pitchFamily="2" charset="2"/>
                  <a:buChar char="§"/>
                </a:pPr>
                <a:r>
                  <a:rPr lang="en-CA" sz="3200" b="1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Emergent Self-Normalization: </a:t>
                </a:r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Effort regularization implicitly drives each agent toward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𝑢</m:t>
                        </m:r>
                      </m:e>
                      <m:sub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en-CA" sz="32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≈</m:t>
                    </m:r>
                    <m:r>
                      <a:rPr lang="en-CA" sz="32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𝒪</m:t>
                    </m:r>
                    <m:d>
                      <m:dPr>
                        <m:ctrl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/</m:t>
                        </m:r>
                        <m:r>
                          <a:rPr lang="en-CA" sz="3200" i="1" dirty="0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, keeping aggregate forcing bounded without any explicit communication of swarm size </a:t>
                </a:r>
                <a14:m>
                  <m:oMath xmlns:m="http://schemas.openxmlformats.org/officeDocument/2006/math">
                    <m:r>
                      <a:rPr lang="en-CA" sz="32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𝑀</m:t>
                    </m:r>
                  </m:oMath>
                </a14:m>
                <a:r>
                  <a:rPr lang="en-CA" sz="3200" dirty="0">
                    <a:latin typeface="Georgia" panose="02040502050405020303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, directly producing cardinality-invariant behavior.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4160697-2A13-EAA1-DCA6-E58FC17986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87472" y="26595282"/>
                <a:ext cx="13893419" cy="4892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002060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80A5D8E8-4F85-3B37-5BDE-592A34E27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7472" y="25671952"/>
            <a:ext cx="13893419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E9FD4E-8152-A4C5-0362-9B2EE442D559}"/>
              </a:ext>
            </a:extLst>
          </p:cNvPr>
          <p:cNvSpPr txBox="1"/>
          <p:nvPr/>
        </p:nvSpPr>
        <p:spPr>
          <a:xfrm>
            <a:off x="15162981" y="25710769"/>
            <a:ext cx="8839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bg1"/>
                </a:solidFill>
                <a:latin typeface="Georgia" panose="02040502050405020303" pitchFamily="18" charset="0"/>
              </a:rPr>
              <a:t>Theoretical Analysis</a:t>
            </a:r>
            <a:endParaRPr lang="en-US" sz="54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8EDBD1-855A-A2F2-5A4F-498690A4C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855" y="7437946"/>
            <a:ext cx="13893419" cy="19556603"/>
          </a:xfrm>
          <a:prstGeom prst="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defTabSz="928573">
              <a:spcBef>
                <a:spcPts val="600"/>
              </a:spcBef>
              <a:spcAft>
                <a:spcPts val="609"/>
              </a:spcAft>
              <a:buClr>
                <a:srgbClr val="002060"/>
              </a:buClr>
              <a:buFont typeface="Wingdings" pitchFamily="2" charset="2"/>
              <a:buChar char="§"/>
            </a:pPr>
            <a:endParaRPr lang="en-CA" sz="32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5A09664-D58C-1173-5F32-8B084F2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854" y="6553433"/>
            <a:ext cx="13893419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DA3ECD-C9C3-E582-081B-C1B49B30A9EB}"/>
              </a:ext>
            </a:extLst>
          </p:cNvPr>
          <p:cNvSpPr txBox="1"/>
          <p:nvPr/>
        </p:nvSpPr>
        <p:spPr>
          <a:xfrm>
            <a:off x="29789364" y="6592250"/>
            <a:ext cx="657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96F11-6CB8-0F25-AFF4-D850F5A8F274}"/>
                  </a:ext>
                </a:extLst>
              </p:cNvPr>
              <p:cNvSpPr txBox="1"/>
              <p:nvPr/>
            </p:nvSpPr>
            <p:spPr>
              <a:xfrm>
                <a:off x="29884502" y="13461421"/>
                <a:ext cx="1359628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i="1" dirty="0">
                    <a:latin typeface="Georgia" panose="02040502050405020303" pitchFamily="18" charset="0"/>
                  </a:rPr>
                  <a:t>Figure 3: Relative MSE vs. swarm size normalized to training scale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dashed = baseline). Left: scale-down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); Right: scale-up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). 2D environments (Density 2D, Turbulence 2D) show broader scaling margins due to higher geometric capacity; chaotic regimes (KS equation) show tightest margins as forcing errors amplify rapidly.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96F11-6CB8-0F25-AFF4-D850F5A8F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4502" y="13461421"/>
                <a:ext cx="13596289" cy="1569660"/>
              </a:xfrm>
              <a:prstGeom prst="rect">
                <a:avLst/>
              </a:prstGeom>
              <a:blipFill>
                <a:blip r:embed="rId11"/>
                <a:stretch>
                  <a:fillRect l="-672" t="-3101" r="-269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1BE13B0-5316-74EE-671C-DC1F81E9D4FA}"/>
                  </a:ext>
                </a:extLst>
              </p:cNvPr>
              <p:cNvSpPr txBox="1"/>
              <p:nvPr/>
            </p:nvSpPr>
            <p:spPr>
              <a:xfrm>
                <a:off x="29708471" y="24923980"/>
                <a:ext cx="13596289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i="1" dirty="0">
                    <a:latin typeface="Georgia" panose="02040502050405020303" pitchFamily="18" charset="0"/>
                  </a:rPr>
                  <a:t>Figure 4: Reference tracking of 2D Heat equation. Top: Natural (uncontrolled) evolution of  </a:t>
                </a: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 showing diffusion. Middle: Controlled evolution of the thermal field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 where agents (red dots) regulate the temperature field toward dashed reference contours while avoiding static obstacles (orange circles). Bottom: Tracking MSE, average agent velocity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) and average agent control intensity (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it-IT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lit/>
                      </m:rPr>
                      <a:rPr lang="it-IT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i="1" dirty="0">
                    <a:latin typeface="Georgia" panose="02040502050405020303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1BE13B0-5316-74EE-671C-DC1F81E9D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8471" y="24923980"/>
                <a:ext cx="13596289" cy="1938992"/>
              </a:xfrm>
              <a:prstGeom prst="rect">
                <a:avLst/>
              </a:prstGeom>
              <a:blipFill>
                <a:blip r:embed="rId12"/>
                <a:stretch>
                  <a:fillRect l="-672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>
            <a:extLst>
              <a:ext uri="{FF2B5EF4-FFF2-40B4-BE49-F238E27FC236}">
                <a16:creationId xmlns:a16="http://schemas.microsoft.com/office/drawing/2014/main" id="{D267C723-74AC-1653-E6E1-436F38921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856" y="28059605"/>
            <a:ext cx="13893419" cy="3407230"/>
          </a:xfrm>
          <a:prstGeom prst="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Georgia" panose="02040502050405020303" pitchFamily="18" charset="0"/>
              </a:rPr>
              <a:t>CINOC reformulates PDE control as operator learning, achieving zero-shot cardinality invariance across agent populations. Emergent self-normalization, grounded by mean-field gradient consistency, enables bounded aggregate forcing without explicit swarm-size communication. Future work targets parametric operators conditioned on physical coefficients and scaling to high-dimensional industrial environments.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CE1A0A0-31BF-1E26-5D7F-74BAC7166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855" y="27304721"/>
            <a:ext cx="13893419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002060"/>
            </a:solidFill>
          </a:ln>
          <a:effectLst/>
        </p:spPr>
        <p:txBody>
          <a:bodyPr lIns="327014" tIns="327014" rIns="327014" bIns="327014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082" eaLnBrk="0" hangingPunct="0">
              <a:spcBef>
                <a:spcPct val="50000"/>
              </a:spcBef>
            </a:pPr>
            <a:endParaRPr lang="en-US" sz="2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4201821-6396-E042-F006-E20DF06733CA}"/>
              </a:ext>
            </a:extLst>
          </p:cNvPr>
          <p:cNvSpPr txBox="1"/>
          <p:nvPr/>
        </p:nvSpPr>
        <p:spPr>
          <a:xfrm>
            <a:off x="29789364" y="27343538"/>
            <a:ext cx="8839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Conclusion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4F9DFE6D-1245-0249-9DFA-EA14D1CCDB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031" y="31952901"/>
            <a:ext cx="863403" cy="889426"/>
          </a:xfrm>
          <a:prstGeom prst="rect">
            <a:avLst/>
          </a:prstGeom>
        </p:spPr>
      </p:pic>
      <p:sp>
        <p:nvSpPr>
          <p:cNvPr id="94" name="Text Box 2">
            <a:extLst>
              <a:ext uri="{FF2B5EF4-FFF2-40B4-BE49-F238E27FC236}">
                <a16:creationId xmlns:a16="http://schemas.microsoft.com/office/drawing/2014/main" id="{47BF2B5C-ABAB-F81B-FC56-7594EEDB3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1528" y="31823224"/>
            <a:ext cx="2863120" cy="1019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AU" sz="3200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View the code</a:t>
            </a:r>
          </a:p>
        </p:txBody>
      </p:sp>
      <p:sp>
        <p:nvSpPr>
          <p:cNvPr id="96" name="Text Box 2">
            <a:extLst>
              <a:ext uri="{FF2B5EF4-FFF2-40B4-BE49-F238E27FC236}">
                <a16:creationId xmlns:a16="http://schemas.microsoft.com/office/drawing/2014/main" id="{43F4CA2C-8209-A90A-D13F-3608B11B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665" y="31575983"/>
            <a:ext cx="35550487" cy="161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AU" sz="2800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Supported by U.S. DOE Office of Science ASCR (</a:t>
            </a:r>
            <a:r>
              <a:rPr lang="en-AU" sz="2800" dirty="0" err="1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SciDAC</a:t>
            </a:r>
            <a:r>
              <a:rPr lang="en-AU" sz="2800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LEADS) and ROSEI at JHU. Computing: JHU ARCH &amp; Rockfish cluster (NSF OAC1920103). DRS and SG supported by NSF Grant 2436738.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764519-F909-E544-32EC-B0D6CF908981}"/>
              </a:ext>
            </a:extLst>
          </p:cNvPr>
          <p:cNvGrpSpPr/>
          <p:nvPr/>
        </p:nvGrpSpPr>
        <p:grpSpPr>
          <a:xfrm>
            <a:off x="14987472" y="18181166"/>
            <a:ext cx="13844100" cy="6911322"/>
            <a:chOff x="15174399" y="7680278"/>
            <a:chExt cx="13543954" cy="655580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A006557-DA81-14BC-9FBE-93943A0C2C6B}"/>
                </a:ext>
              </a:extLst>
            </p:cNvPr>
            <p:cNvSpPr txBox="1"/>
            <p:nvPr/>
          </p:nvSpPr>
          <p:spPr>
            <a:xfrm>
              <a:off x="15630054" y="13272668"/>
              <a:ext cx="12944503" cy="963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latin typeface="Georgia" panose="02040502050405020303" pitchFamily="18" charset="0"/>
                </a:rPr>
                <a:t>Figure 2: Schematic of the multi-agent operator learning for PDE control. The PDE solver acts as a differentiable layer. The operator policy       (shared among the agents) takes error observations and outputs control actions. Gradients propagate through the solver to update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A7AE262-44B8-30B5-FD93-B91E9A209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174399" y="7680278"/>
              <a:ext cx="13543954" cy="5573979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8BE6402-B1F1-6C16-C5B2-63111594903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708471" y="7669811"/>
            <a:ext cx="13719748" cy="55887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483CDF-CF05-94CA-BCA3-BC98188ABC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918" y="12253004"/>
            <a:ext cx="13549569" cy="72361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AC3DA3-7E68-3D4A-6C62-5E97C25A83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550812" y="31921110"/>
            <a:ext cx="931141" cy="9418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728900E-4ACC-D27E-DC4B-5938607F47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80578" y="2268198"/>
            <a:ext cx="3892788" cy="3904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9CCCC-4F9A-D5AE-9F74-45D9020CB6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843197" y="15069898"/>
            <a:ext cx="13461563" cy="99731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BD5BA1-EA26-3760-3A20-82FEDD440D49}"/>
                  </a:ext>
                </a:extLst>
              </p:cNvPr>
              <p:cNvSpPr txBox="1"/>
              <p:nvPr/>
            </p:nvSpPr>
            <p:spPr>
              <a:xfrm>
                <a:off x="15036790" y="13539764"/>
                <a:ext cx="13697118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i="1" dirty="0">
                    <a:latin typeface="Georgia" panose="02040502050405020303" pitchFamily="18" charset="0"/>
                  </a:rPr>
                  <a:t>This formulation defines the objective for our framework: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i="1" dirty="0">
                    <a:latin typeface="Georgia" panose="02040502050405020303" pitchFamily="18" charset="0"/>
                  </a:rPr>
                  <a:t>Orange (Continuous Control Policy)</a:t>
                </a:r>
                <a:r>
                  <a:rPr lang="en-US" sz="3200" i="1" dirty="0">
                    <a:latin typeface="Georgia" panose="02040502050405020303" pitchFamily="18" charset="0"/>
                  </a:rPr>
                  <a:t>: the variables we are actively optimizing. The neural operator maps local observations to the control functions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it-IT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i="1" dirty="0">
                    <a:latin typeface="Georgia" panose="02040502050405020303" pitchFamily="18" charset="0"/>
                  </a:rPr>
                  <a:t>and velocities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3200" i="1" dirty="0">
                    <a:latin typeface="Georgia" panose="02040502050405020303" pitchFamily="18" charset="0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i="1" dirty="0">
                    <a:latin typeface="Georgia" panose="02040502050405020303" pitchFamily="18" charset="0"/>
                  </a:rPr>
                  <a:t>Purple (System Dynamics)</a:t>
                </a:r>
                <a:r>
                  <a:rPr lang="en-US" sz="3200" i="1" dirty="0">
                    <a:latin typeface="Georgia" panose="02040502050405020303" pitchFamily="18" charset="0"/>
                  </a:rPr>
                  <a:t>: represents the PDE state field (</a:t>
                </a:r>
                <a14:m>
                  <m:oMath xmlns:m="http://schemas.openxmlformats.org/officeDocument/2006/math">
                    <m:r>
                      <a:rPr lang="it-IT" sz="32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200" i="1" dirty="0">
                    <a:latin typeface="Georgia" panose="02040502050405020303" pitchFamily="18" charset="0"/>
                  </a:rPr>
                  <a:t>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i="1" dirty="0">
                    <a:latin typeface="Georgia" panose="02040502050405020303" pitchFamily="18" charset="0"/>
                  </a:rPr>
                  <a:t>Teal</a:t>
                </a:r>
                <a:r>
                  <a:rPr lang="en-US" sz="3200" i="1" dirty="0">
                    <a:latin typeface="Georgia" panose="02040502050405020303" pitchFamily="18" charset="0"/>
                  </a:rPr>
                  <a:t> </a:t>
                </a:r>
                <a:r>
                  <a:rPr lang="en-US" sz="3200" b="1" i="1" dirty="0">
                    <a:latin typeface="Georgia" panose="02040502050405020303" pitchFamily="18" charset="0"/>
                  </a:rPr>
                  <a:t>(Decentralized Actuation)</a:t>
                </a:r>
                <a:r>
                  <a:rPr lang="en-US" sz="3200" i="1" dirty="0">
                    <a:latin typeface="Georgia" panose="02040502050405020303" pitchFamily="18" charset="0"/>
                  </a:rPr>
                  <a:t>:. The spatial coordinates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3200" b="0" i="1" smtClean="0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US" sz="3200" i="1" dirty="0">
                    <a:latin typeface="Georgia" panose="02040502050405020303" pitchFamily="18" charset="0"/>
                  </a:rPr>
                  <a:t>) define the position of each agent, whose effect on the field is given by </a:t>
                </a:r>
                <a14:m>
                  <m:oMath xmlns:m="http://schemas.openxmlformats.org/officeDocument/2006/math">
                    <m:r>
                      <a:rPr lang="it-IT" sz="3200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it-IT" sz="3200" i="1" dirty="0">
                    <a:latin typeface="Georgia" panose="02040502050405020303" pitchFamily="18" charset="0"/>
                  </a:rPr>
                  <a:t>.</a:t>
                </a:r>
                <a:r>
                  <a:rPr lang="en-US" sz="3200" i="1" dirty="0">
                    <a:latin typeface="Georgia" panose="02040502050405020303" pitchFamily="18" charset="0"/>
                  </a:rPr>
                  <a:t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i="1" dirty="0">
                    <a:latin typeface="Georgia" panose="02040502050405020303" pitchFamily="18" charset="0"/>
                  </a:rPr>
                  <a:t>Gray (Distributional Robustness)</a:t>
                </a:r>
                <a:r>
                  <a:rPr lang="en-US" sz="3200" i="1" dirty="0">
                    <a:latin typeface="Georgia" panose="02040502050405020303" pitchFamily="18" charset="0"/>
                  </a:rPr>
                  <a:t>: we evaluate the expected cost over a distribution of  parameters (</a:t>
                </a:r>
                <a14:m>
                  <m:oMath xmlns:m="http://schemas.openxmlformats.org/officeDocument/2006/math">
                    <m:r>
                      <a:rPr lang="it-IT" sz="32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3200" i="1" dirty="0">
                    <a:latin typeface="Georgia" panose="02040502050405020303" pitchFamily="18" charset="0"/>
                  </a:rPr>
                  <a:t>, e.g. initial and reference shapes).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BD5BA1-EA26-3760-3A20-82FEDD440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6790" y="13539764"/>
                <a:ext cx="13697118" cy="4524315"/>
              </a:xfrm>
              <a:prstGeom prst="rect">
                <a:avLst/>
              </a:prstGeom>
              <a:blipFill>
                <a:blip r:embed="rId20"/>
                <a:stretch>
                  <a:fillRect l="-1157" t="-1617" r="-1558" b="-3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9F853F2F-FCF0-BDAC-A6D8-3C3DFF450DA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121463" y="7526023"/>
            <a:ext cx="13844098" cy="577371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DEAA933-EB35-B6D8-B156-0025AD0620C3}"/>
              </a:ext>
            </a:extLst>
          </p:cNvPr>
          <p:cNvSpPr txBox="1"/>
          <p:nvPr/>
        </p:nvSpPr>
        <p:spPr>
          <a:xfrm>
            <a:off x="10834254" y="16310940"/>
            <a:ext cx="22056436" cy="40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0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U_Print–Poster-48x36_Template" id="{0E8C02A1-E603-B545-BB73-8A272F2022C7}" vid="{3F47C2DB-EA30-654C-A142-B12F44980D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fe5195-fecb-4803-8947-08614deab0b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CBE8B5142EF34187D47950607FE0E4" ma:contentTypeVersion="5" ma:contentTypeDescription="Create a new document." ma:contentTypeScope="" ma:versionID="be724738a6c752ea5f1e171cca43889c">
  <xsd:schema xmlns:xsd="http://www.w3.org/2001/XMLSchema" xmlns:xs="http://www.w3.org/2001/XMLSchema" xmlns:p="http://schemas.microsoft.com/office/2006/metadata/properties" xmlns:ns3="f7fe5195-fecb-4803-8947-08614deab0ba" targetNamespace="http://schemas.microsoft.com/office/2006/metadata/properties" ma:root="true" ma:fieldsID="30a3e6128b7b3c7a966dd7680e77efda" ns3:_="">
    <xsd:import namespace="f7fe5195-fecb-4803-8947-08614deab0b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e5195-fecb-4803-8947-08614deab0b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17DCC2-6C42-4202-BC5E-05414A7CEA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63C442-32A6-4B1C-B126-2EC3AA8FAD8C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f7fe5195-fecb-4803-8947-08614deab0ba"/>
    <ds:schemaRef ds:uri="http://purl.org/dc/dcmitype/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8FF5B9D-ABEA-4E73-A311-EF023F6D9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e5195-fecb-4803-8947-08614deab0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JHU_PrintΓÇôPoster-48x36_Template</Template>
  <TotalTime>1174</TotalTime>
  <Words>732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Georgia</vt:lpstr>
      <vt:lpstr>Wingdings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Zanotta</dc:creator>
  <cp:lastModifiedBy>Pietro Zanotta</cp:lastModifiedBy>
  <cp:revision>38</cp:revision>
  <dcterms:created xsi:type="dcterms:W3CDTF">2026-05-29T22:19:26Z</dcterms:created>
  <dcterms:modified xsi:type="dcterms:W3CDTF">2026-07-10T14:59:45Z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0x01010059CBE8B5142EF34187D47950607FE0E4</vt:lpwstr>
  </property>
</Properties>
</file>